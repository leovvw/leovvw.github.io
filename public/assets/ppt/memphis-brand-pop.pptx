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这套样板展示 Memphis 潮流创意风。它适合品牌发布、活动招商和消费品提案，目标是让客户感觉 PPT 不只是汇报材料，也可以成为传播物料。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品牌类 PPT 最怕平庸。项目本身也许很好，但页面没有记忆点、没有节奏、没有可以被转发的画面，价值就会被削弱。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这一页强调我们的创意方法。先抓一句能被复述的话，再设计一个视觉符号，最后用节奏把它铺成整套演示。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四块贴纸分别代表创意概念、品牌识别、内容转译和原生交付。好看的页面背后，仍然需要完整流程支撑。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这里用前后对比展示传播价值。同样的项目介绍，普通页只能说明信息，海报级页面能制造记忆点。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收尾页用更强的口号结束。下一份 PPT 不只是讲清楚，也要自带声量，让客户、投资人和合作伙伴愿意记住它。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6E6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886950" y="419100"/>
              <a:ext cx="1562100" cy="1562100"/>
            </a:xfrm>
            <a:prstGeom prst="ellipse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33450" y="4781550"/>
              <a:ext cx="1752600" cy="1752600"/>
            </a:xfrm>
            <a:prstGeom prst="ellipse">
              <a:avLst/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5" name="Polygon 5"/>
            <p:cNvSpPr/>
            <p:nvPr/>
          </p:nvSpPr>
          <p:spPr>
            <a:xfrm>
              <a:off x="9620250" y="4381500"/>
              <a:ext cx="1428750" cy="1181100"/>
            </a:xfrm>
            <a:custGeom>
              <a:avLst/>
              <a:gdLst/>
              <a:ahLst/>
              <a:cxnLst/>
              <a:rect l="l" t="t" r="r" b="b"/>
              <a:pathLst>
                <a:path w="1428750" h="1181100">
                  <a:moveTo>
                    <a:pt x="0" y="571500"/>
                  </a:moveTo>
                  <a:lnTo>
                    <a:pt x="1028700" y="0"/>
                  </a:lnTo>
                  <a:lnTo>
                    <a:pt x="1428750" y="1181100"/>
                  </a:lnTo>
                  <a:close/>
                </a:path>
              </a:pathLst>
            </a:cu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 rot="-480000">
              <a:off x="8001000" y="971550"/>
              <a:ext cx="1123950" cy="400050"/>
            </a:xfrm>
            <a:prstGeom prst="rect">
              <a:avLst/>
            </a:prstGeom>
            <a:solidFill>
              <a:srgbClr val="2ED573"/>
            </a:solidFill>
            <a:ln w="38100">
              <a:solidFill>
                <a:srgbClr val="111111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57250" y="781050"/>
            <a:ext cx="9658350" cy="2705100"/>
            <a:chOff x="857250" y="781050"/>
            <a:chExt cx="9658350" cy="2705100"/>
          </a:xfrm>
        </p:grpSpPr>
        <p:sp>
          <p:nvSpPr>
            <p:cNvPr id="8" name="Line 8"/>
            <p:cNvSpPr/>
            <p:nvPr/>
          </p:nvSpPr>
          <p:spPr>
            <a:xfrm>
              <a:off x="857250" y="781050"/>
              <a:ext cx="571500" cy="323850"/>
            </a:xfrm>
            <a:custGeom>
              <a:avLst/>
              <a:gdLst/>
              <a:ahLst/>
              <a:cxnLst/>
              <a:rect l="l" t="t" r="r" b="b"/>
              <a:pathLst>
                <a:path w="571500" h="323850">
                  <a:moveTo>
                    <a:pt x="0" y="3238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906000" y="23431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76200">
              <a:solidFill>
                <a:srgbClr val="7C3AED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734550" y="3181350"/>
              <a:ext cx="304800" cy="304800"/>
            </a:xfrm>
            <a:prstGeom prst="ellipse">
              <a:avLst/>
            </a:prstGeom>
            <a:solidFill>
              <a:srgbClr val="2ED573"/>
            </a:solidFill>
            <a:ln w="28575">
              <a:solidFill>
                <a:srgbClr val="11111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 rot="1080000">
              <a:off x="2876550" y="1066800"/>
              <a:ext cx="266700" cy="266700"/>
            </a:xfrm>
            <a:prstGeom prst="rect">
              <a:avLst/>
            </a:prstGeom>
            <a:solidFill>
              <a:srgbClr val="FF4D8D"/>
            </a:solidFill>
            <a:ln w="28575">
              <a:solidFill>
                <a:srgbClr val="111111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66800" y="1238250"/>
            <a:ext cx="7429500" cy="3333750"/>
            <a:chOff x="1066800" y="1238250"/>
            <a:chExt cx="7429500" cy="3333750"/>
          </a:xfrm>
        </p:grpSpPr>
        <p:sp>
          <p:nvSpPr>
            <p:cNvPr id="13" name="Rectangle 13"/>
            <p:cNvSpPr/>
            <p:nvPr/>
          </p:nvSpPr>
          <p:spPr>
            <a:xfrm>
              <a:off x="1257300" y="1428750"/>
              <a:ext cx="7239000" cy="3143250"/>
            </a:xfrm>
            <a:prstGeom prst="roundRect">
              <a:avLst>
                <a:gd name="adj" fmla="val 545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66800" y="1238250"/>
              <a:ext cx="7239000" cy="31432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5410" y="1623060"/>
              <a:ext cx="5895594" cy="2491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8100"/>
                </a:lnSpc>
              </a:pPr>
              <a:r>
                <a:rPr lang="zh-CN" sz="72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PPT 也可以有</a:t>
              </a:r>
              <a:r>
                <a:rPr lang="zh-CN" sz="72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品牌记忆点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330" y="371665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4D8D"/>
                  </a:solidFill>
                  <a:latin typeface="Arial"/>
                  <a:ea typeface="Microsoft YaHei"/>
                  <a:cs typeface="Arial"/>
                </a:rPr>
                <a:t>看一眼，就记住你的项目。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3418" y="6219349"/>
            <a:ext cx="10613969" cy="198120"/>
            <a:chOff x="673418" y="6219349"/>
            <a:chExt cx="10613969" cy="198120"/>
          </a:xfrm>
        </p:grpSpPr>
        <p:sp>
          <p:nvSpPr>
            <p:cNvPr id="18" name="TextBox 18"/>
            <p:cNvSpPr txBox="1"/>
            <p:nvPr/>
          </p:nvSpPr>
          <p:spPr>
            <a:xfrm>
              <a:off x="673418" y="621934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MEMPHIS BRAND POP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7068" y="62193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01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6E6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725150" y="361950"/>
              <a:ext cx="990600" cy="990600"/>
            </a:xfrm>
            <a:prstGeom prst="ellipse">
              <a:avLst/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 rot="480000">
              <a:off x="666750" y="5143500"/>
              <a:ext cx="1143000" cy="43815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3418" y="580549"/>
            <a:ext cx="10613969" cy="198120"/>
            <a:chOff x="673418" y="580549"/>
            <a:chExt cx="10613969" cy="198120"/>
          </a:xfrm>
        </p:grpSpPr>
        <p:sp>
          <p:nvSpPr>
            <p:cNvPr id="6" name="TextBox 6"/>
            <p:cNvSpPr txBox="1"/>
            <p:nvPr/>
          </p:nvSpPr>
          <p:spPr>
            <a:xfrm>
              <a:off x="673418" y="580549"/>
              <a:ext cx="1090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WHY BORING FAILS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2706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02 / 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2460" y="956310"/>
            <a:ext cx="8339709" cy="853440"/>
            <a:chOff x="632460" y="956310"/>
            <a:chExt cx="8339709" cy="853440"/>
          </a:xfrm>
        </p:grpSpPr>
        <p:sp>
          <p:nvSpPr>
            <p:cNvPr id="9" name="TextBox 9"/>
            <p:cNvSpPr txBox="1"/>
            <p:nvPr/>
          </p:nvSpPr>
          <p:spPr>
            <a:xfrm>
              <a:off x="632460" y="956310"/>
              <a:ext cx="833970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平庸页面，让好项目显得没声量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095500"/>
            <a:ext cx="3295650" cy="3009900"/>
            <a:chOff x="685800" y="2095500"/>
            <a:chExt cx="3295650" cy="3009900"/>
          </a:xfrm>
        </p:grpSpPr>
        <p:sp>
          <p:nvSpPr>
            <p:cNvPr id="11" name="Rectangle 11"/>
            <p:cNvSpPr/>
            <p:nvPr/>
          </p:nvSpPr>
          <p:spPr>
            <a:xfrm>
              <a:off x="838200" y="22479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20955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33450" y="2343150"/>
              <a:ext cx="609600" cy="609600"/>
            </a:xfrm>
            <a:prstGeom prst="ellipse">
              <a:avLst/>
            </a:pr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7280" y="251650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Impact"/>
                  <a:ea typeface="SimHei"/>
                  <a:cs typeface="Impact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795" y="3088958"/>
              <a:ext cx="134016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没记忆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7750" y="3781425"/>
              <a:ext cx="175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讲完就忘，</a:t>
              </a: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项目没有视觉锚点。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2095500"/>
            <a:ext cx="3295650" cy="3009900"/>
            <a:chOff x="4381500" y="2095500"/>
            <a:chExt cx="3295650" cy="3009900"/>
          </a:xfrm>
        </p:grpSpPr>
        <p:sp>
          <p:nvSpPr>
            <p:cNvPr id="18" name="Rectangle 18"/>
            <p:cNvSpPr/>
            <p:nvPr/>
          </p:nvSpPr>
          <p:spPr>
            <a:xfrm>
              <a:off x="4533900" y="22479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20955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29150" y="2343150"/>
              <a:ext cx="609600" cy="609600"/>
            </a:xfrm>
            <a:prstGeom prst="ellipse">
              <a:avLst/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92980" y="251650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Impact"/>
                  <a:ea typeface="SimHei"/>
                  <a:cs typeface="Impact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2495" y="3088958"/>
              <a:ext cx="134016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没节奏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3450" y="3781425"/>
              <a:ext cx="175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每页一样重，</a:t>
              </a: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听众没有情绪起伏。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77200" y="2095500"/>
            <a:ext cx="3295650" cy="3009900"/>
            <a:chOff x="8077200" y="2095500"/>
            <a:chExt cx="3295650" cy="3009900"/>
          </a:xfrm>
        </p:grpSpPr>
        <p:sp>
          <p:nvSpPr>
            <p:cNvPr id="25" name="Rectangle 25"/>
            <p:cNvSpPr/>
            <p:nvPr/>
          </p:nvSpPr>
          <p:spPr>
            <a:xfrm>
              <a:off x="8229600" y="22479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77200" y="2095500"/>
              <a:ext cx="314325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324850" y="2343150"/>
              <a:ext cx="609600" cy="609600"/>
            </a:xfrm>
            <a:prstGeom prst="ellipse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8680" y="251650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8195" y="3088958"/>
              <a:ext cx="134016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没传播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9150" y="3781425"/>
              <a:ext cx="15621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没有一句话、</a:t>
              </a:r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一张图能被带走。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4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6E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 rot="540000">
              <a:off x="8382000" y="8001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1028700" y="800100"/>
              <a:ext cx="1104900" cy="1104900"/>
            </a:xfrm>
            <a:prstGeom prst="ellipse">
              <a:avLst/>
            </a:prstGeom>
            <a:solidFill>
              <a:srgbClr val="2ED573"/>
            </a:solidFill>
            <a:ln w="38100">
              <a:solidFill>
                <a:srgbClr val="11111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39140" y="2177415"/>
            <a:ext cx="5200650" cy="2194560"/>
            <a:chOff x="739140" y="2177415"/>
            <a:chExt cx="5200650" cy="2194560"/>
          </a:xfrm>
        </p:grpSpPr>
        <p:sp>
          <p:nvSpPr>
            <p:cNvPr id="6" name="TextBox 6"/>
            <p:cNvSpPr txBox="1"/>
            <p:nvPr/>
          </p:nvSpPr>
          <p:spPr>
            <a:xfrm>
              <a:off x="739140" y="2177415"/>
              <a:ext cx="5200650" cy="2194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7200"/>
                </a:lnSpc>
              </a:pPr>
              <a:r>
                <a:rPr lang="zh-CN" sz="63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我们把卖点</a:t>
              </a:r>
              <a:r>
                <a:rPr lang="zh-CN" sz="63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做成视觉钩子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0580" y="3945255"/>
              <a:ext cx="41698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4D8D"/>
                  </a:solidFill>
                  <a:latin typeface="Arial"/>
                  <a:ea typeface="Microsoft YaHei"/>
                  <a:cs typeface="Arial"/>
                </a:rPr>
                <a:t>一句话、一个符号、一组节奏。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48500" y="2476500"/>
            <a:ext cx="3676650" cy="2381250"/>
            <a:chOff x="7048500" y="2476500"/>
            <a:chExt cx="3676650" cy="2381250"/>
          </a:xfrm>
        </p:grpSpPr>
        <p:sp>
          <p:nvSpPr>
            <p:cNvPr id="9" name="Rectangle 9"/>
            <p:cNvSpPr/>
            <p:nvPr/>
          </p:nvSpPr>
          <p:spPr>
            <a:xfrm>
              <a:off x="7048500" y="2476500"/>
              <a:ext cx="3676650" cy="2381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8545" y="2765108"/>
              <a:ext cx="308338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HOOK FORMULA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0" y="35718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核心卖点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0" y="350710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A6FF"/>
                  </a:solidFill>
                  <a:latin typeface="Impact"/>
                  <a:ea typeface="SimHei"/>
                  <a:cs typeface="Impact"/>
                </a:rPr>
                <a:t>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0" y="35718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视觉符号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0" y="41243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4B4B"/>
                  </a:solidFill>
                  <a:latin typeface="Arial"/>
                  <a:ea typeface="Microsoft YaHei"/>
                  <a:cs typeface="Arial"/>
                </a:rPr>
                <a:t>页面节奏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1080" y="405955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4D8D"/>
                  </a:solidFill>
                  <a:latin typeface="Impact"/>
                  <a:ea typeface="SimHei"/>
                  <a:cs typeface="Impact"/>
                </a:rPr>
                <a:t>=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7800" y="41243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可传播记忆点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827068" y="6219349"/>
            <a:ext cx="460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F63"/>
                </a:solidFill>
                <a:latin typeface="Consolas"/>
                <a:ea typeface="Microsoft YaHei"/>
                <a:cs typeface="Consolas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6E6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3418" y="580549"/>
            <a:ext cx="10613969" cy="198120"/>
            <a:chOff x="673418" y="580549"/>
            <a:chExt cx="1061396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673418" y="5805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POP CAPABILITY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2706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04 / 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2460" y="899160"/>
            <a:ext cx="7163562" cy="853440"/>
            <a:chOff x="632460" y="899160"/>
            <a:chExt cx="7163562" cy="853440"/>
          </a:xfrm>
        </p:grpSpPr>
        <p:sp>
          <p:nvSpPr>
            <p:cNvPr id="8" name="TextBox 8"/>
            <p:cNvSpPr txBox="1"/>
            <p:nvPr/>
          </p:nvSpPr>
          <p:spPr>
            <a:xfrm>
              <a:off x="632460" y="899160"/>
              <a:ext cx="716356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不只是好看，是为传播服务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2057400"/>
            <a:ext cx="2614358" cy="2514600"/>
            <a:chOff x="819150" y="2057400"/>
            <a:chExt cx="2614358" cy="2514600"/>
          </a:xfrm>
        </p:grpSpPr>
        <p:sp>
          <p:nvSpPr>
            <p:cNvPr id="10" name="Rectangle 10"/>
            <p:cNvSpPr/>
            <p:nvPr/>
          </p:nvSpPr>
          <p:spPr>
            <a:xfrm rot="-300000">
              <a:off x="971550" y="22098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 rot="-300000">
              <a:off x="819150" y="20574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 rot="-300000">
              <a:off x="1194903" y="2595224"/>
              <a:ext cx="9201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FFFFFF"/>
                  </a:solidFill>
                  <a:latin typeface="Impact"/>
                  <a:ea typeface="SimHei"/>
                  <a:cs typeface="Impact"/>
                </a:rPr>
                <a:t>创意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300000">
              <a:off x="1195133" y="3266478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先找到能被记住的概念。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24250" y="2057400"/>
            <a:ext cx="2836191" cy="2514600"/>
            <a:chOff x="3524250" y="2057400"/>
            <a:chExt cx="2836191" cy="2514600"/>
          </a:xfrm>
        </p:grpSpPr>
        <p:sp>
          <p:nvSpPr>
            <p:cNvPr id="15" name="Rectangle 15"/>
            <p:cNvSpPr/>
            <p:nvPr/>
          </p:nvSpPr>
          <p:spPr>
            <a:xfrm rot="240000">
              <a:off x="3676650" y="22098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 rot="240000">
              <a:off x="3524250" y="20574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 rot="240000">
              <a:off x="3903717" y="2661108"/>
              <a:ext cx="9201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FFFFFF"/>
                  </a:solidFill>
                  <a:latin typeface="Impact"/>
                  <a:ea typeface="SimHei"/>
                  <a:cs typeface="Impact"/>
                </a:rPr>
                <a:t>品牌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 rot="240000">
              <a:off x="3922041" y="3446066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把颜色、字体、符号统一。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29350" y="2057400"/>
            <a:ext cx="2636419" cy="2514600"/>
            <a:chOff x="6229350" y="2057400"/>
            <a:chExt cx="2636419" cy="2514600"/>
          </a:xfrm>
        </p:grpSpPr>
        <p:sp>
          <p:nvSpPr>
            <p:cNvPr id="20" name="Rectangle 20"/>
            <p:cNvSpPr/>
            <p:nvPr/>
          </p:nvSpPr>
          <p:spPr>
            <a:xfrm rot="-180000">
              <a:off x="6381750" y="22098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 rot="-180000">
              <a:off x="6229350" y="20574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 rot="-180000">
              <a:off x="6606822" y="2609801"/>
              <a:ext cx="9201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内容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 rot="-180000">
              <a:off x="6627394" y="3304761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把资料转成能讲的页面。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934450" y="2057400"/>
            <a:ext cx="2535246" cy="2514600"/>
            <a:chOff x="8934450" y="2057400"/>
            <a:chExt cx="2535246" cy="2514600"/>
          </a:xfrm>
        </p:grpSpPr>
        <p:sp>
          <p:nvSpPr>
            <p:cNvPr id="25" name="Rectangle 25"/>
            <p:cNvSpPr/>
            <p:nvPr/>
          </p:nvSpPr>
          <p:spPr>
            <a:xfrm rot="300000">
              <a:off x="9086850" y="22098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 rot="300000">
              <a:off x="8934450" y="2057400"/>
              <a:ext cx="2247900" cy="2362200"/>
            </a:xfrm>
            <a:prstGeom prst="roundRect">
              <a:avLst>
                <a:gd name="adj" fmla="val 8475"/>
              </a:avLst>
            </a:prstGeom>
            <a:solidFill>
              <a:srgbClr val="2ED573"/>
            </a:solidFill>
            <a:ln w="38100">
              <a:solidFill>
                <a:srgbClr val="11111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 rot="300000">
              <a:off x="9313690" y="2668444"/>
              <a:ext cx="9201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交付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 rot="300000">
              <a:off x="9331334" y="3453886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输出可编辑原生 PPTX。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130" y="5545455"/>
            <a:ext cx="4463891" cy="426720"/>
            <a:chOff x="659130" y="5545455"/>
            <a:chExt cx="4463891" cy="426720"/>
          </a:xfrm>
        </p:grpSpPr>
        <p:sp>
          <p:nvSpPr>
            <p:cNvPr id="30" name="TextBox 30"/>
            <p:cNvSpPr txBox="1"/>
            <p:nvPr/>
          </p:nvSpPr>
          <p:spPr>
            <a:xfrm>
              <a:off x="659130" y="5545455"/>
              <a:ext cx="44638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创意不是装饰，是让价值被复述。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24" grpId="0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73418" y="580549"/>
            <a:ext cx="10613969" cy="198120"/>
            <a:chOff x="673418" y="580549"/>
            <a:chExt cx="10613969" cy="198120"/>
          </a:xfrm>
        </p:grpSpPr>
        <p:sp>
          <p:nvSpPr>
            <p:cNvPr id="3" name="TextBox 3"/>
            <p:cNvSpPr txBox="1"/>
            <p:nvPr/>
          </p:nvSpPr>
          <p:spPr>
            <a:xfrm>
              <a:off x="673418" y="580549"/>
              <a:ext cx="720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TRANSFORM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2706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05 / 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270" y="893445"/>
            <a:ext cx="9382220" cy="792480"/>
            <a:chOff x="636270" y="893445"/>
            <a:chExt cx="9382220" cy="792480"/>
          </a:xfrm>
        </p:grpSpPr>
        <p:sp>
          <p:nvSpPr>
            <p:cNvPr id="6" name="TextBox 6"/>
            <p:cNvSpPr txBox="1"/>
            <p:nvPr/>
          </p:nvSpPr>
          <p:spPr>
            <a:xfrm>
              <a:off x="636270" y="893445"/>
              <a:ext cx="938222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你的内容，可以从材料变成海报级页面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3900" y="2171700"/>
            <a:ext cx="3524250" cy="3048000"/>
            <a:chOff x="723900" y="2171700"/>
            <a:chExt cx="3524250" cy="3048000"/>
          </a:xfrm>
        </p:grpSpPr>
        <p:sp>
          <p:nvSpPr>
            <p:cNvPr id="8" name="Rectangle 8"/>
            <p:cNvSpPr/>
            <p:nvPr/>
          </p:nvSpPr>
          <p:spPr>
            <a:xfrm>
              <a:off x="723900" y="2171700"/>
              <a:ext cx="3524250" cy="304800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7745" y="2384108"/>
              <a:ext cx="155019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4B4B4B"/>
                  </a:solidFill>
                  <a:latin typeface="Impact"/>
                  <a:ea typeface="SimHei"/>
                  <a:cs typeface="Impact"/>
                </a:rPr>
                <a:t>BEFORE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66800" y="32385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52400">
              <a:solidFill>
                <a:srgbClr val="F2E4D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6195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52400">
              <a:solidFill>
                <a:srgbClr val="F2E4D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" y="40005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52400">
              <a:solidFill>
                <a:srgbClr val="F2E4D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66800" y="43815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52400">
              <a:solidFill>
                <a:srgbClr val="F2E4D0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14900" y="2876550"/>
            <a:ext cx="2362200" cy="1638300"/>
            <a:chOff x="4914900" y="2876550"/>
            <a:chExt cx="2362200" cy="1638300"/>
          </a:xfrm>
        </p:grpSpPr>
        <p:sp>
          <p:nvSpPr>
            <p:cNvPr id="15" name="Ellipse 15"/>
            <p:cNvSpPr/>
            <p:nvPr/>
          </p:nvSpPr>
          <p:spPr>
            <a:xfrm>
              <a:off x="5276850" y="2876550"/>
              <a:ext cx="1638300" cy="1638300"/>
            </a:xfrm>
            <a:prstGeom prst="ellipse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69280" y="3459480"/>
              <a:ext cx="97955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POP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914900" y="3695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067300" y="35623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915150" y="3695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067550" y="35623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753350" y="2133600"/>
            <a:ext cx="3714750" cy="3238500"/>
            <a:chOff x="7753350" y="2133600"/>
            <a:chExt cx="37147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7943850" y="2324100"/>
              <a:ext cx="3524250" cy="3048000"/>
            </a:xfrm>
            <a:prstGeom prst="roundRect">
              <a:avLst>
                <a:gd name="adj" fmla="val 5625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0" y="2133600"/>
              <a:ext cx="3524250" cy="3048000"/>
            </a:xfrm>
            <a:prstGeom prst="roundRect">
              <a:avLst>
                <a:gd name="adj" fmla="val 5625"/>
              </a:avLst>
            </a:pr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2910" y="2480310"/>
              <a:ext cx="164687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rgbClr val="FFFFFF"/>
                  </a:solidFill>
                  <a:latin typeface="Impact"/>
                  <a:ea typeface="SimHei"/>
                  <a:cs typeface="Impact"/>
                </a:rPr>
                <a:t>AFTER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9580" y="34499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一页一个记忆点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906000" y="3543300"/>
              <a:ext cx="914400" cy="914400"/>
            </a:xfrm>
            <a:prstGeom prst="ellipse">
              <a:avLst/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96250" y="4324350"/>
              <a:ext cx="1447800" cy="45720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24850" y="44672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可分享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1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6E6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763000" y="571500"/>
              <a:ext cx="2286000" cy="2286000"/>
            </a:xfrm>
            <a:prstGeom prst="ellipse">
              <a:avLst/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848850" y="4324350"/>
              <a:ext cx="1447800" cy="1447800"/>
            </a:xfrm>
            <a:prstGeom prst="ellipse">
              <a:avLst/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5" name="Polygon 5"/>
            <p:cNvSpPr/>
            <p:nvPr/>
          </p:nvSpPr>
          <p:spPr>
            <a:xfrm>
              <a:off x="857250" y="4286250"/>
              <a:ext cx="1524000" cy="1276350"/>
            </a:xfrm>
            <a:custGeom>
              <a:avLst/>
              <a:gdLst/>
              <a:ahLst/>
              <a:cxnLst/>
              <a:rect l="l" t="t" r="r" b="b"/>
              <a:pathLst>
                <a:path w="1524000" h="1276350">
                  <a:moveTo>
                    <a:pt x="0" y="552450"/>
                  </a:moveTo>
                  <a:lnTo>
                    <a:pt x="1104900" y="0"/>
                  </a:lnTo>
                  <a:lnTo>
                    <a:pt x="1524000" y="1276350"/>
                  </a:lnTo>
                  <a:close/>
                </a:path>
              </a:pathLst>
            </a:custGeom>
            <a:solidFill>
              <a:srgbClr val="7C3AED"/>
            </a:solidFill>
            <a:ln w="38100">
              <a:solidFill>
                <a:srgbClr val="111111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447800" y="1104900"/>
            <a:ext cx="7772400" cy="3505200"/>
            <a:chOff x="1447800" y="1104900"/>
            <a:chExt cx="7772400" cy="3505200"/>
          </a:xfrm>
        </p:grpSpPr>
        <p:sp>
          <p:nvSpPr>
            <p:cNvPr id="7" name="Rectangle 7"/>
            <p:cNvSpPr/>
            <p:nvPr/>
          </p:nvSpPr>
          <p:spPr>
            <a:xfrm>
              <a:off x="1676400" y="1333500"/>
              <a:ext cx="7543800" cy="3276600"/>
            </a:xfrm>
            <a:prstGeom prst="roundRect">
              <a:avLst>
                <a:gd name="adj" fmla="val 6977"/>
              </a:avLst>
            </a:prstGeom>
            <a:solidFill>
              <a:srgbClr val="F2E4D0"/>
            </a:solidFill>
            <a:ln w="38100">
              <a:solidFill>
                <a:srgbClr val="11111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447800" y="1104900"/>
              <a:ext cx="7543800" cy="32766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40230" y="1554480"/>
              <a:ext cx="5404294" cy="2274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7350"/>
                </a:lnSpc>
              </a:pPr>
              <a:r>
                <a:rPr lang="zh-CN" sz="66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让下一份 PPT</a:t>
              </a:r>
              <a:r>
                <a:rPr lang="zh-CN" sz="6600" b="1" dirty="0">
                  <a:solidFill>
                    <a:srgbClr val="111111"/>
                  </a:solidFill>
                  <a:latin typeface="Impact"/>
                  <a:ea typeface="SimHei"/>
                  <a:cs typeface="Impact"/>
                </a:rPr>
                <a:t>自带声量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4530" y="3583305"/>
              <a:ext cx="53460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4D8D"/>
                  </a:solidFill>
                  <a:latin typeface="Arial"/>
                  <a:ea typeface="Microsoft YaHei"/>
                  <a:cs typeface="Arial"/>
                </a:rPr>
                <a:t>讲清楚，也要被记住、被转发、被讨论。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24100" y="5181600"/>
            <a:ext cx="6743700" cy="476250"/>
            <a:chOff x="2324100" y="5181600"/>
            <a:chExt cx="6743700" cy="476250"/>
          </a:xfrm>
        </p:grpSpPr>
        <p:sp>
          <p:nvSpPr>
            <p:cNvPr id="12" name="Rectangle 12"/>
            <p:cNvSpPr/>
            <p:nvPr/>
          </p:nvSpPr>
          <p:spPr>
            <a:xfrm>
              <a:off x="2324100" y="5181600"/>
              <a:ext cx="1371600" cy="476250"/>
            </a:xfrm>
            <a:prstGeom prst="roundRect">
              <a:avLst>
                <a:gd name="adj" fmla="val 24000"/>
              </a:avLst>
            </a:prstGeom>
            <a:solidFill>
              <a:srgbClr val="FF4D8D"/>
            </a:solidFill>
            <a:ln w="38100">
              <a:solidFill>
                <a:srgbClr val="11111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05100" y="5334000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Brief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14800" y="5181600"/>
              <a:ext cx="1371600" cy="476250"/>
            </a:xfrm>
            <a:prstGeom prst="roundRect">
              <a:avLst>
                <a:gd name="adj" fmla="val 24000"/>
              </a:avLst>
            </a:prstGeom>
            <a:solidFill>
              <a:srgbClr val="00A6FF"/>
            </a:solidFill>
            <a:ln w="38100">
              <a:solidFill>
                <a:srgbClr val="11111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14850" y="53340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概念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05500" y="5181600"/>
              <a:ext cx="1371600" cy="476250"/>
            </a:xfrm>
            <a:prstGeom prst="roundRect">
              <a:avLst>
                <a:gd name="adj" fmla="val 24000"/>
              </a:avLst>
            </a:prstGeom>
            <a:solidFill>
              <a:srgbClr val="FFD23F"/>
            </a:solidFill>
            <a:ln w="38100">
              <a:solidFill>
                <a:srgbClr val="11111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0" y="53340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样稿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96200" y="5181600"/>
              <a:ext cx="1371600" cy="476250"/>
            </a:xfrm>
            <a:prstGeom prst="roundRect">
              <a:avLst>
                <a:gd name="adj" fmla="val 24000"/>
              </a:avLst>
            </a:prstGeom>
            <a:solidFill>
              <a:srgbClr val="2ED573"/>
            </a:solidFill>
            <a:ln w="38100">
              <a:solidFill>
                <a:srgbClr val="11111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96250" y="53340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3418" y="6219349"/>
            <a:ext cx="10613969" cy="198120"/>
            <a:chOff x="673418" y="6219349"/>
            <a:chExt cx="10613969" cy="198120"/>
          </a:xfrm>
        </p:grpSpPr>
        <p:sp>
          <p:nvSpPr>
            <p:cNvPr id="21" name="TextBox 21"/>
            <p:cNvSpPr txBox="1"/>
            <p:nvPr/>
          </p:nvSpPr>
          <p:spPr>
            <a:xfrm>
              <a:off x="673418" y="621934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MEMPHIS BRAND POP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7068" y="62193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6F63"/>
                  </a:solidFill>
                  <a:latin typeface="Consolas"/>
                  <a:ea typeface="Microsoft YaHei"/>
                  <a:cs typeface="Consolas"/>
                </a:rPr>
                <a:t>06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2026-06-20T10:08:08Z</dcterms:created>
  <dcterms:modified xsi:type="dcterms:W3CDTF">2026-06-20T10:08:08Z</dcterms:modified>
  <cp:category/>
  <cp:contentStatus/>
</cp:coreProperties>
</file>