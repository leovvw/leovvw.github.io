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这套样板展示暗黑科技风。它适合 AI、数据平台、技术产品发布，用深色空间、发光节点和系统图，让页面先建立专业可信的第一印象。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科技类 PPT 最大的问题不是信息不够，而是系统感不够。术语堆得越多，客户越难判断价值；我们要把复杂变成可视化秩序。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这一页把我们的交付方式包装成演示引擎。输入资料，解析逻辑，生成视觉结构，最后导出可编辑 PPTX，整个过程清楚且可控。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科技场景需要同时处理产品卖点、数据指标和系统架构。我们的价值是把这三类内容放进同一套视觉语言里，而不是各画各的。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模拟 dashboard 用来展示页面质感。速度、质量、可编辑交付三个指标，配合中间的系统链路，让客户立刻感到这是一套成熟流程。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收尾页强调发布感。下一次产品发布或融资路演，让页面先替你建立信任，再让讲者去展开细节。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42033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715250" y="1047750"/>
            <a:ext cx="2876550" cy="2857500"/>
            <a:chOff x="7715250" y="1047750"/>
            <a:chExt cx="2876550" cy="2857500"/>
          </a:xfrm>
        </p:grpSpPr>
        <p:sp>
          <p:nvSpPr>
            <p:cNvPr id="16" name="Ellipse 16"/>
            <p:cNvSpPr/>
            <p:nvPr/>
          </p:nvSpPr>
          <p:spPr>
            <a:xfrm>
              <a:off x="7715250" y="1047750"/>
              <a:ext cx="2857500" cy="2857500"/>
            </a:xfrm>
            <a:prstGeom prst="ellipse">
              <a:avLst/>
            </a:prstGeom>
            <a:solidFill>
              <a:srgbClr val="0E1726"/>
            </a:solidFill>
            <a:ln w="9525">
              <a:solidFill>
                <a:srgbClr val="20304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248650" y="1581150"/>
              <a:ext cx="1790700" cy="1790700"/>
            </a:xfrm>
            <a:prstGeom prst="ellipse">
              <a:avLst/>
            </a:prstGeom>
            <a:solidFill>
              <a:srgbClr val="111C2E"/>
            </a:solidFill>
            <a:ln w="19050">
              <a:solidFill>
                <a:srgbClr val="00D9FF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782050" y="2114550"/>
              <a:ext cx="723900" cy="723900"/>
            </a:xfrm>
            <a:prstGeom prst="ellipse">
              <a:avLst/>
            </a:prstGeom>
            <a:solidFill>
              <a:srgbClr val="00D9FF">
                <a:alpha val="18000"/>
              </a:srgbClr>
            </a:solidFill>
            <a:ln w="28575">
              <a:solidFill>
                <a:srgbClr val="36F3F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096250" y="1581150"/>
              <a:ext cx="1047750" cy="895350"/>
            </a:xfrm>
            <a:custGeom>
              <a:avLst/>
              <a:gdLst/>
              <a:ahLst/>
              <a:cxnLst/>
              <a:rect l="l" t="t" r="r" b="b"/>
              <a:pathLst>
                <a:path w="1047750" h="895350">
                  <a:moveTo>
                    <a:pt x="1047750" y="895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9F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144000" y="2038350"/>
              <a:ext cx="1333500" cy="438150"/>
            </a:xfrm>
            <a:custGeom>
              <a:avLst/>
              <a:gdLst/>
              <a:ahLst/>
              <a:cxnLst/>
              <a:rect l="l" t="t" r="r" b="b"/>
              <a:pathLst>
                <a:path w="1333500" h="438150">
                  <a:moveTo>
                    <a:pt x="0" y="43815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8B5CF6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144000" y="2476500"/>
              <a:ext cx="704850" cy="1200150"/>
            </a:xfrm>
            <a:custGeom>
              <a:avLst/>
              <a:gdLst/>
              <a:ahLst/>
              <a:cxnLst/>
              <a:rect l="l" t="t" r="r" b="b"/>
              <a:pathLst>
                <a:path w="704850" h="1200150">
                  <a:moveTo>
                    <a:pt x="0" y="0"/>
                  </a:moveTo>
                  <a:lnTo>
                    <a:pt x="704850" y="1200150"/>
                  </a:lnTo>
                </a:path>
              </a:pathLst>
            </a:custGeom>
            <a:noFill/>
            <a:ln w="19050">
              <a:solidFill>
                <a:srgbClr val="00D9FF">
                  <a:alpha val="45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981950" y="1466850"/>
              <a:ext cx="228600" cy="228600"/>
            </a:xfrm>
            <a:prstGeom prst="ellipse">
              <a:avLst/>
            </a:prstGeom>
            <a:solidFill>
              <a:srgbClr val="00D9F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363200" y="1924050"/>
              <a:ext cx="228600" cy="2286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734550" y="3562350"/>
              <a:ext cx="228600" cy="228600"/>
            </a:xfrm>
            <a:prstGeom prst="ellipse">
              <a:avLst/>
            </a:prstGeom>
            <a:solidFill>
              <a:srgbClr val="38D99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98170" y="1407795"/>
            <a:ext cx="4775835" cy="3695224"/>
            <a:chOff x="598170" y="1407795"/>
            <a:chExt cx="4775835" cy="3695224"/>
          </a:xfrm>
        </p:grpSpPr>
        <p:sp>
          <p:nvSpPr>
            <p:cNvPr id="26" name="TextBox 26"/>
            <p:cNvSpPr txBox="1"/>
            <p:nvPr/>
          </p:nvSpPr>
          <p:spPr>
            <a:xfrm>
              <a:off x="598170" y="1407795"/>
              <a:ext cx="4775835" cy="2392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7800"/>
                </a:lnSpc>
              </a:pPr>
              <a:r>
                <a:rPr lang="zh-CN" sz="69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让你的 PPT</a:t>
              </a:r>
              <a:r>
                <a:rPr lang="zh-CN" sz="69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像产品发布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185" y="42662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D9FF"/>
                  </a:solidFill>
                  <a:latin typeface="Arial"/>
                  <a:ea typeface="Microsoft YaHei"/>
                  <a:cs typeface="Arial"/>
                </a:rPr>
                <a:t>而不是内部材料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618" y="4904899"/>
              <a:ext cx="34766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AI PRESENTATION SYSTEM / STRATEGY + VISUAL + DELIVERY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3418" y="6219349"/>
            <a:ext cx="10633019" cy="198120"/>
            <a:chOff x="673418" y="6219349"/>
            <a:chExt cx="10633019" cy="198120"/>
          </a:xfrm>
        </p:grpSpPr>
        <p:sp>
          <p:nvSpPr>
            <p:cNvPr id="30" name="TextBox 30"/>
            <p:cNvSpPr txBox="1"/>
            <p:nvPr/>
          </p:nvSpPr>
          <p:spPr>
            <a:xfrm>
              <a:off x="673418" y="62193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02_dark_ai_tech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46118" y="62193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01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609600"/>
              <a:ext cx="10972800" cy="5638800"/>
            </a:xfrm>
            <a:prstGeom prst="rect">
              <a:avLst/>
            </a:prstGeom>
            <a:solidFill>
              <a:srgbClr val="0E1726"/>
            </a:solidFill>
            <a:ln w="9525">
              <a:solidFill>
                <a:srgbClr val="20304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25818" y="885349"/>
            <a:ext cx="10461569" cy="198120"/>
            <a:chOff x="825818" y="885349"/>
            <a:chExt cx="1046156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825818" y="885349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SYSTEM GAP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27068" y="8853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02 / 06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2005" y="1273492"/>
            <a:ext cx="6856238" cy="907733"/>
            <a:chOff x="802005" y="1273492"/>
            <a:chExt cx="6856238" cy="907733"/>
          </a:xfrm>
        </p:grpSpPr>
        <p:sp>
          <p:nvSpPr>
            <p:cNvPr id="8" name="TextBox 8"/>
            <p:cNvSpPr txBox="1"/>
            <p:nvPr/>
          </p:nvSpPr>
          <p:spPr>
            <a:xfrm>
              <a:off x="802005" y="127349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客户不缺信息，缺的是可感知的系统感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8200" y="1876425"/>
              <a:ext cx="40786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科技内容必须从“术语列表”变成“可信系统”。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8200" y="2743200"/>
            <a:ext cx="3238500" cy="2247900"/>
            <a:chOff x="838200" y="2743200"/>
            <a:chExt cx="3238500" cy="2247900"/>
          </a:xfrm>
        </p:grpSpPr>
        <p:sp>
          <p:nvSpPr>
            <p:cNvPr id="11" name="Rectangle 11"/>
            <p:cNvSpPr/>
            <p:nvPr/>
          </p:nvSpPr>
          <p:spPr>
            <a:xfrm>
              <a:off x="838200" y="2743200"/>
              <a:ext cx="3238500" cy="2247900"/>
            </a:xfrm>
            <a:prstGeom prst="roundRect">
              <a:avLst>
                <a:gd name="adj" fmla="val 3390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66800" y="3009900"/>
              <a:ext cx="342900" cy="342900"/>
            </a:xfrm>
            <a:prstGeom prst="ellipse">
              <a:avLst/>
            </a:prstGeom>
            <a:solidFill>
              <a:srgbClr val="FF5C8A">
                <a:alpha val="18000"/>
              </a:srgbClr>
            </a:solidFill>
            <a:ln w="19050">
              <a:solidFill>
                <a:srgbClr val="FF5C8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37335" y="30470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堆术语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62050" y="3724275"/>
              <a:ext cx="1752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技术名词很多，</a:t>
              </a:r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客户却不知道重点。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76750" y="2743200"/>
            <a:ext cx="3238500" cy="2247900"/>
            <a:chOff x="4476750" y="2743200"/>
            <a:chExt cx="32385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4476750" y="2743200"/>
              <a:ext cx="3238500" cy="2247900"/>
            </a:xfrm>
            <a:prstGeom prst="roundRect">
              <a:avLst>
                <a:gd name="adj" fmla="val 3390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705350" y="3009900"/>
              <a:ext cx="342900" cy="342900"/>
            </a:xfrm>
            <a:prstGeom prst="ellipse">
              <a:avLst/>
            </a:prstGeom>
            <a:solidFill>
              <a:srgbClr val="8B5CF6">
                <a:alpha val="18000"/>
              </a:srgbClr>
            </a:solidFill>
            <a:ln w="19050">
              <a:solidFill>
                <a:srgbClr val="8B5CF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75885" y="30470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缺架构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00600" y="3724275"/>
              <a:ext cx="1752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模块之间没有关系，</a:t>
              </a:r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系统价值看不出来。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15300" y="2743200"/>
            <a:ext cx="3238500" cy="2247900"/>
            <a:chOff x="8115300" y="2743200"/>
            <a:chExt cx="3238500" cy="2247900"/>
          </a:xfrm>
        </p:grpSpPr>
        <p:sp>
          <p:nvSpPr>
            <p:cNvPr id="21" name="Rectangle 21"/>
            <p:cNvSpPr/>
            <p:nvPr/>
          </p:nvSpPr>
          <p:spPr>
            <a:xfrm>
              <a:off x="8115300" y="2743200"/>
              <a:ext cx="3238500" cy="2247900"/>
            </a:xfrm>
            <a:prstGeom prst="roundRect">
              <a:avLst>
                <a:gd name="adj" fmla="val 3390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343900" y="3009900"/>
              <a:ext cx="342900" cy="342900"/>
            </a:xfrm>
            <a:prstGeom prst="ellipse">
              <a:avLst/>
            </a:prstGeom>
            <a:solidFill>
              <a:srgbClr val="00D9FF">
                <a:alpha val="18000"/>
              </a:srgbClr>
            </a:solidFill>
            <a:ln w="19050">
              <a:solidFill>
                <a:srgbClr val="00D9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14435" y="30470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没节奏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9150" y="3724275"/>
              <a:ext cx="15621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每页都在解释，</a:t>
              </a:r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没有形成发布感。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5818" y="5676900"/>
            <a:ext cx="10527982" cy="416719"/>
            <a:chOff x="825818" y="5676900"/>
            <a:chExt cx="10527982" cy="416719"/>
          </a:xfrm>
        </p:grpSpPr>
        <p:sp>
          <p:nvSpPr>
            <p:cNvPr id="26" name="Line 26"/>
            <p:cNvSpPr/>
            <p:nvPr/>
          </p:nvSpPr>
          <p:spPr>
            <a:xfrm>
              <a:off x="838200" y="56769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00D9FF">
                  <a:alpha val="7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5818" y="5895499"/>
              <a:ext cx="23325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9FF"/>
                  </a:solidFill>
                  <a:latin typeface="Consolas"/>
                  <a:ea typeface="Microsoft YaHei"/>
                  <a:cs typeface="Consolas"/>
                </a:rPr>
                <a:t>OBJECTIVE: MAKE COMPLEXITY VISIBLE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0" grpId="0"/>
      <p:bldP spid="25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733800" y="1066800"/>
              <a:ext cx="4724400" cy="4724400"/>
            </a:xfrm>
            <a:prstGeom prst="ellipse">
              <a:avLst/>
            </a:prstGeom>
            <a:solidFill>
              <a:srgbClr val="0E1726"/>
            </a:solidFill>
            <a:ln w="9525">
              <a:solidFill>
                <a:srgbClr val="20304A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4533900" y="1866900"/>
              <a:ext cx="3124200" cy="3124200"/>
            </a:xfrm>
            <a:prstGeom prst="ellipse">
              <a:avLst/>
            </a:prstGeom>
            <a:solidFill>
              <a:srgbClr val="111C2E"/>
            </a:solidFill>
            <a:ln w="9525">
              <a:solidFill>
                <a:srgbClr val="14203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49605" y="809149"/>
            <a:ext cx="5260038" cy="967263"/>
            <a:chOff x="649605" y="809149"/>
            <a:chExt cx="5260038" cy="967263"/>
          </a:xfrm>
        </p:grpSpPr>
        <p:sp>
          <p:nvSpPr>
            <p:cNvPr id="6" name="TextBox 6"/>
            <p:cNvSpPr txBox="1"/>
            <p:nvPr/>
          </p:nvSpPr>
          <p:spPr>
            <a:xfrm>
              <a:off x="673418" y="80914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ENGINE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9605" y="1197292"/>
              <a:ext cx="52600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我们把材料转成一套演示引擎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53050" y="2686050"/>
            <a:ext cx="1485900" cy="1485900"/>
            <a:chOff x="5353050" y="2686050"/>
            <a:chExt cx="1485900" cy="1485900"/>
          </a:xfrm>
        </p:grpSpPr>
        <p:sp>
          <p:nvSpPr>
            <p:cNvPr id="9" name="Ellipse 9"/>
            <p:cNvSpPr/>
            <p:nvPr/>
          </p:nvSpPr>
          <p:spPr>
            <a:xfrm>
              <a:off x="5353050" y="2686050"/>
              <a:ext cx="1485900" cy="1485900"/>
            </a:xfrm>
            <a:prstGeom prst="ellipse">
              <a:avLst/>
            </a:prstGeom>
            <a:solidFill>
              <a:srgbClr val="00D9FF">
                <a:alpha val="16000"/>
              </a:srgbClr>
            </a:solidFill>
            <a:ln w="28575">
              <a:solidFill>
                <a:srgbClr val="00D9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45468" y="3266599"/>
              <a:ext cx="310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6F3FF"/>
                  </a:solidFill>
                  <a:latin typeface="Consolas"/>
                  <a:ea typeface="Microsoft YaHei"/>
                  <a:cs typeface="Consolas"/>
                </a:rPr>
                <a:t>PPTX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04485" y="35232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演示引擎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9200" y="2971800"/>
            <a:ext cx="4133850" cy="914400"/>
            <a:chOff x="1219200" y="2971800"/>
            <a:chExt cx="4133850" cy="914400"/>
          </a:xfrm>
        </p:grpSpPr>
        <p:sp>
          <p:nvSpPr>
            <p:cNvPr id="13" name="Rectangle 13"/>
            <p:cNvSpPr/>
            <p:nvPr/>
          </p:nvSpPr>
          <p:spPr>
            <a:xfrm>
              <a:off x="1219200" y="2971800"/>
              <a:ext cx="2095500" cy="914400"/>
            </a:xfrm>
            <a:prstGeom prst="roundRect">
              <a:avLst>
                <a:gd name="adj" fmla="val 8333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73518" y="3228499"/>
              <a:ext cx="531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9FF"/>
                  </a:solidFill>
                  <a:latin typeface="Consolas"/>
                  <a:ea typeface="Microsoft YaHei"/>
                  <a:cs typeface="Consolas"/>
                </a:rPr>
                <a:t>01 INPUT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66850" y="35147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资料输入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314700" y="34290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19050">
              <a:solidFill>
                <a:srgbClr val="00D9FF">
                  <a:alpha val="5000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048250" y="1028700"/>
            <a:ext cx="2095500" cy="1657350"/>
            <a:chOff x="5048250" y="1028700"/>
            <a:chExt cx="2095500" cy="1657350"/>
          </a:xfrm>
        </p:grpSpPr>
        <p:sp>
          <p:nvSpPr>
            <p:cNvPr id="18" name="Rectangle 18"/>
            <p:cNvSpPr/>
            <p:nvPr/>
          </p:nvSpPr>
          <p:spPr>
            <a:xfrm>
              <a:off x="5048250" y="1028700"/>
              <a:ext cx="2095500" cy="914400"/>
            </a:xfrm>
            <a:prstGeom prst="roundRect">
              <a:avLst>
                <a:gd name="adj" fmla="val 8333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02568" y="128539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02 PARSE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5900" y="15716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逻辑解析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0" y="194310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19050">
              <a:solidFill>
                <a:srgbClr val="8B5CF6">
                  <a:alpha val="50000"/>
                </a:srgb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38950" y="2971800"/>
            <a:ext cx="4133850" cy="914400"/>
            <a:chOff x="6838950" y="2971800"/>
            <a:chExt cx="4133850" cy="914400"/>
          </a:xfrm>
        </p:grpSpPr>
        <p:sp>
          <p:nvSpPr>
            <p:cNvPr id="23" name="Rectangle 23"/>
            <p:cNvSpPr/>
            <p:nvPr/>
          </p:nvSpPr>
          <p:spPr>
            <a:xfrm>
              <a:off x="8877300" y="2971800"/>
              <a:ext cx="2095500" cy="914400"/>
            </a:xfrm>
            <a:prstGeom prst="roundRect">
              <a:avLst>
                <a:gd name="adj" fmla="val 8333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31618" y="3228499"/>
              <a:ext cx="6033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9FF"/>
                  </a:solidFill>
                  <a:latin typeface="Consolas"/>
                  <a:ea typeface="Microsoft YaHei"/>
                  <a:cs typeface="Consolas"/>
                </a:rPr>
                <a:t>03 VISUAL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24950" y="35147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视觉结构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38950" y="34290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19050">
              <a:solidFill>
                <a:srgbClr val="00D9FF">
                  <a:alpha val="50000"/>
                </a:srgbClr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048250" y="4171950"/>
            <a:ext cx="2095500" cy="1657350"/>
            <a:chOff x="5048250" y="4171950"/>
            <a:chExt cx="2095500" cy="1657350"/>
          </a:xfrm>
        </p:grpSpPr>
        <p:sp>
          <p:nvSpPr>
            <p:cNvPr id="28" name="Rectangle 28"/>
            <p:cNvSpPr/>
            <p:nvPr/>
          </p:nvSpPr>
          <p:spPr>
            <a:xfrm>
              <a:off x="5048250" y="4914900"/>
              <a:ext cx="2095500" cy="914400"/>
            </a:xfrm>
            <a:prstGeom prst="roundRect">
              <a:avLst>
                <a:gd name="adj" fmla="val 8333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02568" y="51715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D996"/>
                  </a:solidFill>
                  <a:latin typeface="Consolas"/>
                  <a:ea typeface="Microsoft YaHei"/>
                  <a:cs typeface="Consolas"/>
                </a:rPr>
                <a:t>04 DELIVER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959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原生交付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0" y="41719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19050">
              <a:solidFill>
                <a:srgbClr val="38D996">
                  <a:alpha val="50000"/>
                </a:srgbClr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827068" y="6219349"/>
            <a:ext cx="4603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27089"/>
                </a:solidFill>
                <a:latin typeface="Consolas"/>
                <a:ea typeface="Microsoft YaHei"/>
                <a:cs typeface="Consolas"/>
              </a:rPr>
              <a:t>03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7" grpId="0"/>
      <p:bldP spid="22" grpId="0"/>
      <p:bldP spid="27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73418" y="580549"/>
            <a:ext cx="10613969" cy="198120"/>
            <a:chOff x="673418" y="580549"/>
            <a:chExt cx="10613969" cy="198120"/>
          </a:xfrm>
        </p:grpSpPr>
        <p:sp>
          <p:nvSpPr>
            <p:cNvPr id="3" name="TextBox 3"/>
            <p:cNvSpPr txBox="1"/>
            <p:nvPr/>
          </p:nvSpPr>
          <p:spPr>
            <a:xfrm>
              <a:off x="673418" y="5805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CAPABILITY MATRIX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2706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04 / 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9605" y="968692"/>
            <a:ext cx="5599231" cy="579120"/>
            <a:chOff x="649605" y="968692"/>
            <a:chExt cx="5599231" cy="579120"/>
          </a:xfrm>
        </p:grpSpPr>
        <p:sp>
          <p:nvSpPr>
            <p:cNvPr id="6" name="TextBox 6"/>
            <p:cNvSpPr txBox="1"/>
            <p:nvPr/>
          </p:nvSpPr>
          <p:spPr>
            <a:xfrm>
              <a:off x="649605" y="968692"/>
              <a:ext cx="559923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AI、数据、架构页都能被讲清楚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943100"/>
            <a:ext cx="10820400" cy="3714750"/>
            <a:chOff x="685800" y="1943100"/>
            <a:chExt cx="10820400" cy="3714750"/>
          </a:xfrm>
        </p:grpSpPr>
        <p:sp>
          <p:nvSpPr>
            <p:cNvPr id="8" name="Rectangle 8"/>
            <p:cNvSpPr/>
            <p:nvPr/>
          </p:nvSpPr>
          <p:spPr>
            <a:xfrm>
              <a:off x="685800" y="1943100"/>
              <a:ext cx="10820400" cy="3714750"/>
            </a:xfrm>
            <a:prstGeom prst="roundRect">
              <a:avLst>
                <a:gd name="adj" fmla="val 2051"/>
              </a:avLst>
            </a:prstGeom>
            <a:solidFill>
              <a:srgbClr val="0E1726"/>
            </a:solidFill>
            <a:ln w="9525">
              <a:solidFill>
                <a:srgbClr val="20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3181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0304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4419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030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286250" y="194310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9525">
              <a:solidFill>
                <a:srgbClr val="2030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886700" y="194310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9525">
              <a:solidFill>
                <a:srgbClr val="20304A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28700" y="2466499"/>
            <a:ext cx="2348389" cy="591026"/>
            <a:chOff x="1028700" y="2466499"/>
            <a:chExt cx="2348389" cy="591026"/>
          </a:xfrm>
        </p:grpSpPr>
        <p:sp>
          <p:nvSpPr>
            <p:cNvPr id="14" name="TextBox 14"/>
            <p:cNvSpPr txBox="1"/>
            <p:nvPr/>
          </p:nvSpPr>
          <p:spPr>
            <a:xfrm>
              <a:off x="1035368" y="2466499"/>
              <a:ext cx="583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9FF"/>
                  </a:solidFill>
                  <a:latin typeface="Consolas"/>
                  <a:ea typeface="Microsoft YaHei"/>
                  <a:cs typeface="Consolas"/>
                </a:rPr>
                <a:t>AI MODEL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8700" y="2752725"/>
              <a:ext cx="2348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把模型能力讲成客户收益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29150" y="2466499"/>
            <a:ext cx="1508284" cy="591026"/>
            <a:chOff x="4629150" y="2466499"/>
            <a:chExt cx="1508284" cy="591026"/>
          </a:xfrm>
        </p:grpSpPr>
        <p:sp>
          <p:nvSpPr>
            <p:cNvPr id="17" name="TextBox 17"/>
            <p:cNvSpPr txBox="1"/>
            <p:nvPr/>
          </p:nvSpPr>
          <p:spPr>
            <a:xfrm>
              <a:off x="4635818" y="2466499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DATA STORY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9150" y="27527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把指标做成观点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0" y="2466499"/>
            <a:ext cx="1508284" cy="591026"/>
            <a:chOff x="8229600" y="2466499"/>
            <a:chExt cx="1508284" cy="591026"/>
          </a:xfrm>
        </p:grpSpPr>
        <p:sp>
          <p:nvSpPr>
            <p:cNvPr id="20" name="TextBox 20"/>
            <p:cNvSpPr txBox="1"/>
            <p:nvPr/>
          </p:nvSpPr>
          <p:spPr>
            <a:xfrm>
              <a:off x="8236268" y="2466499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D996"/>
                  </a:solidFill>
                  <a:latin typeface="Consolas"/>
                  <a:ea typeface="Microsoft YaHei"/>
                  <a:cs typeface="Consolas"/>
                </a:rPr>
                <a:t>ARCHITECTURE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9600" y="27527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把系统画成路径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3704749"/>
            <a:ext cx="1718310" cy="591026"/>
            <a:chOff x="1028700" y="3704749"/>
            <a:chExt cx="1718310" cy="591026"/>
          </a:xfrm>
        </p:grpSpPr>
        <p:sp>
          <p:nvSpPr>
            <p:cNvPr id="23" name="TextBox 23"/>
            <p:cNvSpPr txBox="1"/>
            <p:nvPr/>
          </p:nvSpPr>
          <p:spPr>
            <a:xfrm>
              <a:off x="1035368" y="3704749"/>
              <a:ext cx="453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9FF"/>
                  </a:solidFill>
                  <a:latin typeface="Consolas"/>
                  <a:ea typeface="Microsoft YaHei"/>
                  <a:cs typeface="Consolas"/>
                </a:rPr>
                <a:t>LAUNCH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8700" y="399097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发布会级视觉节奏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29150" y="3704749"/>
            <a:ext cx="1676305" cy="591026"/>
            <a:chOff x="4629150" y="3704749"/>
            <a:chExt cx="1676305" cy="591026"/>
          </a:xfrm>
        </p:grpSpPr>
        <p:sp>
          <p:nvSpPr>
            <p:cNvPr id="26" name="TextBox 26"/>
            <p:cNvSpPr txBox="1"/>
            <p:nvPr/>
          </p:nvSpPr>
          <p:spPr>
            <a:xfrm>
              <a:off x="4635818" y="37047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EDITABLE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29150" y="3990975"/>
              <a:ext cx="16763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原生 PPTX 可编辑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29600" y="3704749"/>
            <a:ext cx="1718310" cy="591026"/>
            <a:chOff x="8229600" y="3704749"/>
            <a:chExt cx="1718310" cy="591026"/>
          </a:xfrm>
        </p:grpSpPr>
        <p:sp>
          <p:nvSpPr>
            <p:cNvPr id="29" name="TextBox 29"/>
            <p:cNvSpPr txBox="1"/>
            <p:nvPr/>
          </p:nvSpPr>
          <p:spPr>
            <a:xfrm>
              <a:off x="8236268" y="37047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D996"/>
                  </a:solidFill>
                  <a:latin typeface="Consolas"/>
                  <a:ea typeface="Microsoft YaHei"/>
                  <a:cs typeface="Consolas"/>
                </a:rPr>
                <a:t>DELIVERY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9600" y="399097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快速迭代到可上台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8700" y="4972050"/>
            <a:ext cx="9639300" cy="581025"/>
            <a:chOff x="1028700" y="4972050"/>
            <a:chExt cx="9639300" cy="581025"/>
          </a:xfrm>
        </p:grpSpPr>
        <p:sp>
          <p:nvSpPr>
            <p:cNvPr id="32" name="Rectangle 32"/>
            <p:cNvSpPr/>
            <p:nvPr/>
          </p:nvSpPr>
          <p:spPr>
            <a:xfrm>
              <a:off x="1047750" y="4972050"/>
              <a:ext cx="9620250" cy="133350"/>
            </a:xfrm>
            <a:prstGeom prst="roundRect">
              <a:avLst>
                <a:gd name="adj" fmla="val 50000"/>
              </a:avLst>
            </a:prstGeom>
            <a:solidFill>
              <a:srgbClr val="20304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7750" y="4972050"/>
              <a:ext cx="7429500" cy="133350"/>
            </a:xfrm>
            <a:prstGeom prst="roundRect">
              <a:avLst>
                <a:gd name="adj" fmla="val 50000"/>
              </a:avLst>
            </a:prstGeom>
            <a:solidFill>
              <a:srgbClr val="00D9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8700" y="5248275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从内容理解到视觉发布，形成一套科技场景表达能力。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  <p:bldP spid="19" grpId="0"/>
      <p:bldP spid="22" grpId="0"/>
      <p:bldP spid="25" grpId="0"/>
      <p:bldP spid="28" grpId="0"/>
      <p:bldP spid="31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533400"/>
              <a:ext cx="10972800" cy="5791200"/>
            </a:xfrm>
            <a:prstGeom prst="roundRect">
              <a:avLst>
                <a:gd name="adj" fmla="val 1316"/>
              </a:avLst>
            </a:prstGeom>
            <a:solidFill>
              <a:srgbClr val="0E1726"/>
            </a:solidFill>
            <a:ln w="9525">
              <a:solidFill>
                <a:srgbClr val="20304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63918" y="809149"/>
            <a:ext cx="10423469" cy="198120"/>
            <a:chOff x="863918" y="809149"/>
            <a:chExt cx="1042346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863918" y="809149"/>
              <a:ext cx="986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LIVE DASHBOARD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27068" y="8091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05 / 06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0105" y="1140142"/>
            <a:ext cx="3663839" cy="579120"/>
            <a:chOff x="840105" y="1140142"/>
            <a:chExt cx="3663839" cy="579120"/>
          </a:xfrm>
        </p:grpSpPr>
        <p:sp>
          <p:nvSpPr>
            <p:cNvPr id="8" name="TextBox 8"/>
            <p:cNvSpPr txBox="1"/>
            <p:nvPr/>
          </p:nvSpPr>
          <p:spPr>
            <a:xfrm>
              <a:off x="840105" y="114014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一页就能建立专业感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6300" y="2038350"/>
            <a:ext cx="3067050" cy="1376362"/>
            <a:chOff x="876300" y="2038350"/>
            <a:chExt cx="3067050" cy="1376362"/>
          </a:xfrm>
        </p:grpSpPr>
        <p:sp>
          <p:nvSpPr>
            <p:cNvPr id="10" name="Rectangle 10"/>
            <p:cNvSpPr/>
            <p:nvPr/>
          </p:nvSpPr>
          <p:spPr>
            <a:xfrm>
              <a:off x="876300" y="2038350"/>
              <a:ext cx="3067050" cy="1352550"/>
            </a:xfrm>
            <a:prstGeom prst="roundRect">
              <a:avLst>
                <a:gd name="adj" fmla="val 5634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0618" y="2333149"/>
              <a:ext cx="382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9FF"/>
                  </a:solidFill>
                  <a:latin typeface="Consolas"/>
                  <a:ea typeface="Microsoft YaHei"/>
                  <a:cs typeface="Consolas"/>
                </a:rPr>
                <a:t>SPEED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1565" y="2591752"/>
              <a:ext cx="1038537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48h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62200" y="28670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首版样稿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52950" y="2038350"/>
            <a:ext cx="3067050" cy="1376362"/>
            <a:chOff x="4552950" y="2038350"/>
            <a:chExt cx="3067050" cy="1376362"/>
          </a:xfrm>
        </p:grpSpPr>
        <p:sp>
          <p:nvSpPr>
            <p:cNvPr id="15" name="Rectangle 15"/>
            <p:cNvSpPr/>
            <p:nvPr/>
          </p:nvSpPr>
          <p:spPr>
            <a:xfrm>
              <a:off x="4552950" y="2038350"/>
              <a:ext cx="3067050" cy="1352550"/>
            </a:xfrm>
            <a:prstGeom prst="roundRect">
              <a:avLst>
                <a:gd name="adj" fmla="val 5634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07268" y="2333149"/>
              <a:ext cx="518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QUALITY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68215" y="2591752"/>
              <a:ext cx="41475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72100" y="286702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页展示闭环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29600" y="2038350"/>
            <a:ext cx="3067050" cy="1376362"/>
            <a:chOff x="8229600" y="2038350"/>
            <a:chExt cx="3067050" cy="1376362"/>
          </a:xfrm>
        </p:grpSpPr>
        <p:sp>
          <p:nvSpPr>
            <p:cNvPr id="20" name="Rectangle 20"/>
            <p:cNvSpPr/>
            <p:nvPr/>
          </p:nvSpPr>
          <p:spPr>
            <a:xfrm>
              <a:off x="8229600" y="2038350"/>
              <a:ext cx="3067050" cy="1352550"/>
            </a:xfrm>
            <a:prstGeom prst="roundRect">
              <a:avLst>
                <a:gd name="adj" fmla="val 5634"/>
              </a:avLst>
            </a:prstGeom>
            <a:solidFill>
              <a:srgbClr val="111C2E"/>
            </a:solidFill>
            <a:ln w="9525">
              <a:solidFill>
                <a:srgbClr val="20304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83918" y="233314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D996"/>
                  </a:solidFill>
                  <a:latin typeface="Consolas"/>
                  <a:ea typeface="Microsoft YaHei"/>
                  <a:cs typeface="Consolas"/>
                </a:rPr>
                <a:t>EDIT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44865" y="2591752"/>
              <a:ext cx="135042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PPTX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82200" y="2867025"/>
              <a:ext cx="638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9B8CC"/>
                  </a:solidFill>
                  <a:latin typeface="Arial"/>
                  <a:ea typeface="Microsoft YaHei"/>
                  <a:cs typeface="Arial"/>
                </a:rPr>
                <a:t>可编辑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76300" y="3905250"/>
            <a:ext cx="10420350" cy="1676400"/>
            <a:chOff x="876300" y="3905250"/>
            <a:chExt cx="10420350" cy="1676400"/>
          </a:xfrm>
        </p:grpSpPr>
        <p:sp>
          <p:nvSpPr>
            <p:cNvPr id="25" name="Rectangle 25"/>
            <p:cNvSpPr/>
            <p:nvPr/>
          </p:nvSpPr>
          <p:spPr>
            <a:xfrm>
              <a:off x="876300" y="3905250"/>
              <a:ext cx="10420350" cy="1676400"/>
            </a:xfrm>
            <a:prstGeom prst="roundRect">
              <a:avLst>
                <a:gd name="adj" fmla="val 4545"/>
              </a:avLst>
            </a:prstGeom>
            <a:solidFill>
              <a:srgbClr val="070B14"/>
            </a:solidFill>
            <a:ln w="9525">
              <a:solidFill>
                <a:srgbClr val="20304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828800" y="4476750"/>
              <a:ext cx="533400" cy="533400"/>
            </a:xfrm>
            <a:prstGeom prst="ellipse">
              <a:avLst/>
            </a:prstGeom>
            <a:solidFill>
              <a:srgbClr val="00D9FF">
                <a:alpha val="18000"/>
              </a:srgbClr>
            </a:solidFill>
            <a:ln w="19050">
              <a:solidFill>
                <a:srgbClr val="00D9F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210050" y="4476750"/>
              <a:ext cx="533400" cy="533400"/>
            </a:xfrm>
            <a:prstGeom prst="ellipse">
              <a:avLst/>
            </a:prstGeom>
            <a:solidFill>
              <a:srgbClr val="8B5CF6">
                <a:alpha val="18000"/>
              </a:srgbClr>
            </a:solidFill>
            <a:ln w="19050">
              <a:solidFill>
                <a:srgbClr val="8B5CF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591300" y="4476750"/>
              <a:ext cx="533400" cy="533400"/>
            </a:xfrm>
            <a:prstGeom prst="ellipse">
              <a:avLst/>
            </a:prstGeom>
            <a:solidFill>
              <a:srgbClr val="00D9FF">
                <a:alpha val="18000"/>
              </a:srgbClr>
            </a:solidFill>
            <a:ln w="19050">
              <a:solidFill>
                <a:srgbClr val="00D9F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972550" y="4476750"/>
              <a:ext cx="533400" cy="533400"/>
            </a:xfrm>
            <a:prstGeom prst="ellipse">
              <a:avLst/>
            </a:prstGeom>
            <a:solidFill>
              <a:srgbClr val="38D996">
                <a:alpha val="18000"/>
              </a:srgbClr>
            </a:solidFill>
            <a:ln w="19050">
              <a:solidFill>
                <a:srgbClr val="38D99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2362200" y="47434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19050">
              <a:solidFill>
                <a:srgbClr val="00D9FF">
                  <a:alpha val="5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743450" y="47434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19050">
              <a:solidFill>
                <a:srgbClr val="8B5CF6">
                  <a:alpha val="5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124700" y="47434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19050">
              <a:solidFill>
                <a:srgbClr val="38D996">
                  <a:alpha val="5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95450" y="51530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资料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76700" y="51530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策略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7950" y="51530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视觉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39200" y="5153025"/>
              <a:ext cx="438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/>
      <p:bldP spid="24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762000" y="-952500"/>
            <a:ext cx="13525500" cy="9334500"/>
            <a:chOff x="-762000" y="-952500"/>
            <a:chExt cx="13525500" cy="9334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572500" y="-952500"/>
              <a:ext cx="4191000" cy="4191000"/>
            </a:xfrm>
            <a:prstGeom prst="ellipse">
              <a:avLst/>
            </a:prstGeom>
            <a:solidFill>
              <a:srgbClr val="8B5CF6">
                <a:alpha val="1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3429000"/>
              <a:ext cx="4953000" cy="4953000"/>
            </a:xfrm>
            <a:prstGeom prst="ellipse">
              <a:avLst/>
            </a:prstGeom>
            <a:solidFill>
              <a:srgbClr val="00D9FF">
                <a:alpha val="12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85800" y="685800"/>
            <a:ext cx="10820400" cy="5486400"/>
            <a:chOff x="685800" y="685800"/>
            <a:chExt cx="10820400" cy="5486400"/>
          </a:xfrm>
        </p:grpSpPr>
        <p:sp>
          <p:nvSpPr>
            <p:cNvPr id="6" name="Rectangle 6"/>
            <p:cNvSpPr/>
            <p:nvPr/>
          </p:nvSpPr>
          <p:spPr>
            <a:xfrm>
              <a:off x="685800" y="685800"/>
              <a:ext cx="10820400" cy="5486400"/>
            </a:xfrm>
            <a:prstGeom prst="roundRect">
              <a:avLst>
                <a:gd name="adj" fmla="val 1389"/>
              </a:avLst>
            </a:prstGeom>
            <a:solidFill>
              <a:srgbClr val="0E1726">
                <a:alpha val="82000"/>
              </a:srgbClr>
            </a:solidFill>
            <a:ln w="9525">
              <a:solidFill>
                <a:srgbClr val="20304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90600" y="57912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19050">
              <a:solidFill>
                <a:srgbClr val="00D9FF">
                  <a:alpha val="65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41095" y="1698308"/>
            <a:ext cx="7007778" cy="3002280"/>
            <a:chOff x="1141095" y="1698308"/>
            <a:chExt cx="7007778" cy="3002280"/>
          </a:xfrm>
        </p:grpSpPr>
        <p:sp>
          <p:nvSpPr>
            <p:cNvPr id="9" name="TextBox 9"/>
            <p:cNvSpPr txBox="1"/>
            <p:nvPr/>
          </p:nvSpPr>
          <p:spPr>
            <a:xfrm>
              <a:off x="1141095" y="1698308"/>
              <a:ext cx="6717030" cy="2164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7200"/>
                </a:lnSpc>
              </a:pPr>
              <a:r>
                <a:rPr lang="zh-CN" sz="61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下一次发布</a:t>
              </a:r>
              <a:r>
                <a:rPr lang="zh-CN" sz="6150" b="1" dirty="0">
                  <a:solidFill>
                    <a:srgbClr val="F4F7FB"/>
                  </a:solidFill>
                  <a:latin typeface="Arial"/>
                  <a:ea typeface="Microsoft YaHei"/>
                  <a:cs typeface="Arial"/>
                </a:rPr>
                <a:t>让页面先建立信任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2535" y="4304348"/>
              <a:ext cx="691633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D9FF"/>
                  </a:solidFill>
                  <a:latin typeface="Arial"/>
                  <a:ea typeface="Microsoft YaHei"/>
                  <a:cs typeface="Arial"/>
                </a:rPr>
                <a:t>AI 产品、数据平台、融资路演，都需要更强的第一印象。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7300" y="5105400"/>
            <a:ext cx="4020932" cy="457200"/>
            <a:chOff x="1257300" y="5105400"/>
            <a:chExt cx="4020932" cy="457200"/>
          </a:xfrm>
        </p:grpSpPr>
        <p:sp>
          <p:nvSpPr>
            <p:cNvPr id="12" name="Rectangle 12"/>
            <p:cNvSpPr/>
            <p:nvPr/>
          </p:nvSpPr>
          <p:spPr>
            <a:xfrm>
              <a:off x="1257300" y="5105400"/>
              <a:ext cx="1676400" cy="457200"/>
            </a:xfrm>
            <a:prstGeom prst="roundRect">
              <a:avLst>
                <a:gd name="adj" fmla="val 16667"/>
              </a:avLst>
            </a:prstGeom>
            <a:solidFill>
              <a:srgbClr val="00D9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62100" y="5248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0B14"/>
                  </a:solidFill>
                  <a:latin typeface="Arial"/>
                  <a:ea typeface="Microsoft YaHei"/>
                  <a:cs typeface="Arial"/>
                </a:rPr>
                <a:t>发资料给我们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64218" y="53049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27089"/>
                  </a:solidFill>
                  <a:latin typeface="Consolas"/>
                  <a:ea typeface="Microsoft YaHei"/>
                  <a:cs typeface="Consolas"/>
                </a:rPr>
                <a:t>STRATEGY / DESIGN / NATIVE PPTX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827068" y="6409849"/>
            <a:ext cx="4603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27089"/>
                </a:solidFill>
                <a:latin typeface="Consolas"/>
                <a:ea typeface="Microsoft YaHei"/>
                <a:cs typeface="Consolas"/>
              </a:rPr>
              <a:t>06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2026-06-20T10:08:04Z</dcterms:created>
  <dcterms:modified xsi:type="dcterms:W3CDTF">2026-06-20T10:08:04Z</dcterms:modified>
  <cp:category/>
  <cp:contentStatus/>
</cp:coreProperties>
</file>