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这套样板展示的是高端咨询风。核心不是把页面装饰得复杂，而是让客户第一眼看到判断：好 PPT 的价值，是帮助内容被更快理解、被更快相信。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这一页把常见 PPT 的失败原因拆成三类。逻辑散会让听众抓不到重点，视觉弱会让价值显得廉价，交付慢会拖住业务节奏。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我们的工作不是直接排版，而是先搭论证。先定义受众和结论，再重组证据，最后把内容压缩成能展示、能修改、能成交的页面。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专业 PPT 交付是一条完整链路。策略、版式、数据和交付四项能力连在一起，客户才不会得到一份只能看、不能用的图片稿。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同样一段内容，普通页让听众自己找重点；专业页替听众完成判断。我们把堆字材料变成结论、证据和行动路径。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最后的邀请很简单：把下一份重要 PPT 交给会讲故事的人。客户提供资料，我们负责让它变成能被看懂、记住和推动决策的作品。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7F3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685800" y="914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E6DE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85800" y="5943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9E6D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85800" y="914400"/>
            <a:ext cx="10820400" cy="3048000"/>
            <a:chOff x="685800" y="914400"/>
            <a:chExt cx="10820400" cy="3048000"/>
          </a:xfrm>
        </p:grpSpPr>
        <p:sp>
          <p:nvSpPr>
            <p:cNvPr id="6" name="Rectangle 6"/>
            <p:cNvSpPr/>
            <p:nvPr/>
          </p:nvSpPr>
          <p:spPr>
            <a:xfrm>
              <a:off x="685800" y="914400"/>
              <a:ext cx="171450" cy="3048000"/>
            </a:xfrm>
            <a:prstGeom prst="rect">
              <a:avLst/>
            </a:prstGeom>
            <a:solidFill>
              <a:srgbClr val="D85C3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363200" y="914400"/>
              <a:ext cx="1143000" cy="76200"/>
            </a:xfrm>
            <a:prstGeom prst="rect">
              <a:avLst/>
            </a:prstGeom>
            <a:solidFill>
              <a:srgbClr val="1F293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37285" y="1570672"/>
            <a:ext cx="7177088" cy="3568066"/>
            <a:chOff x="1137285" y="1570672"/>
            <a:chExt cx="7177088" cy="3568066"/>
          </a:xfrm>
        </p:grpSpPr>
        <p:sp>
          <p:nvSpPr>
            <p:cNvPr id="9" name="TextBox 9"/>
            <p:cNvSpPr txBox="1"/>
            <p:nvPr/>
          </p:nvSpPr>
          <p:spPr>
            <a:xfrm>
              <a:off x="1137285" y="1570672"/>
              <a:ext cx="3604260" cy="2244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7350"/>
                </a:lnSpc>
              </a:pPr>
              <a:r>
                <a:rPr lang="zh-CN" sz="64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好 PPT</a:t>
              </a:r>
              <a:r>
                <a:rPr lang="zh-CN" sz="64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不是美化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4915" y="42205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是帮你赢下判断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9205" y="4864418"/>
              <a:ext cx="70551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策略先于设计，设计服务决策。我们把复杂内容变成能被听懂、记住和推动行动的演示。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97340" y="5000149"/>
            <a:ext cx="1497926" cy="581501"/>
            <a:chOff x="9197340" y="5000149"/>
            <a:chExt cx="1497926" cy="581501"/>
          </a:xfrm>
        </p:grpSpPr>
        <p:sp>
          <p:nvSpPr>
            <p:cNvPr id="13" name="TextBox 13"/>
            <p:cNvSpPr txBox="1"/>
            <p:nvPr/>
          </p:nvSpPr>
          <p:spPr>
            <a:xfrm>
              <a:off x="9207818" y="5000149"/>
              <a:ext cx="14874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PRESENTATION STRATEGY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97340" y="521589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85C3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3418" y="6181249"/>
            <a:ext cx="10823519" cy="198120"/>
            <a:chOff x="673418" y="6181249"/>
            <a:chExt cx="10823519" cy="198120"/>
          </a:xfrm>
        </p:grpSpPr>
        <p:sp>
          <p:nvSpPr>
            <p:cNvPr id="16" name="TextBox 16"/>
            <p:cNvSpPr txBox="1"/>
            <p:nvPr/>
          </p:nvSpPr>
          <p:spPr>
            <a:xfrm>
              <a:off x="673418" y="618124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Premium Consulting Sample Deck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36618" y="61812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01 /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7F3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685800" y="914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8D5C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3418" y="580549"/>
            <a:ext cx="10518719" cy="198120"/>
            <a:chOff x="673418" y="580549"/>
            <a:chExt cx="10518719" cy="198120"/>
          </a:xfrm>
        </p:grpSpPr>
        <p:sp>
          <p:nvSpPr>
            <p:cNvPr id="5" name="TextBox 5"/>
            <p:cNvSpPr txBox="1"/>
            <p:nvPr/>
          </p:nvSpPr>
          <p:spPr>
            <a:xfrm>
              <a:off x="673418" y="580549"/>
              <a:ext cx="577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PROBLEM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31818" y="5805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02 / 06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3415" y="1191578"/>
            <a:ext cx="5509701" cy="822960"/>
            <a:chOff x="653415" y="1191578"/>
            <a:chExt cx="5509701" cy="822960"/>
          </a:xfrm>
        </p:grpSpPr>
        <p:sp>
          <p:nvSpPr>
            <p:cNvPr id="8" name="TextBox 8"/>
            <p:cNvSpPr txBox="1"/>
            <p:nvPr/>
          </p:nvSpPr>
          <p:spPr>
            <a:xfrm>
              <a:off x="653415" y="1191578"/>
              <a:ext cx="550970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普通 PPT 输在三件事：散、弱、慢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8655" y="1740218"/>
              <a:ext cx="4534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不是不够漂亮，而是不够清楚、不够有力、不够可交付。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2491740"/>
            <a:ext cx="3200400" cy="2423160"/>
            <a:chOff x="685800" y="2491740"/>
            <a:chExt cx="3200400" cy="2423160"/>
          </a:xfrm>
        </p:grpSpPr>
        <p:sp>
          <p:nvSpPr>
            <p:cNvPr id="11" name="Rectangle 11"/>
            <p:cNvSpPr/>
            <p:nvPr/>
          </p:nvSpPr>
          <p:spPr>
            <a:xfrm>
              <a:off x="685800" y="2533650"/>
              <a:ext cx="3200400" cy="2381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5C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3440" y="2491740"/>
              <a:ext cx="86121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D85C3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1540" y="33680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逻辑散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7255" y="3854768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信息堆在一起，听众需要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自己寻找重点。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95800" y="2491740"/>
            <a:ext cx="3200400" cy="2423160"/>
            <a:chOff x="4495800" y="2491740"/>
            <a:chExt cx="3200400" cy="2423160"/>
          </a:xfrm>
        </p:grpSpPr>
        <p:sp>
          <p:nvSpPr>
            <p:cNvPr id="16" name="Rectangle 16"/>
            <p:cNvSpPr/>
            <p:nvPr/>
          </p:nvSpPr>
          <p:spPr>
            <a:xfrm>
              <a:off x="4495800" y="2533650"/>
              <a:ext cx="3200400" cy="2381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5C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63440" y="2491740"/>
              <a:ext cx="86121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1540" y="33680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视觉弱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7255" y="3854768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价值没有被放大，专业度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在页面上被折损。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305800" y="2491740"/>
            <a:ext cx="3200400" cy="2423160"/>
            <a:chOff x="8305800" y="2491740"/>
            <a:chExt cx="3200400" cy="2423160"/>
          </a:xfrm>
        </p:grpSpPr>
        <p:sp>
          <p:nvSpPr>
            <p:cNvPr id="21" name="Rectangle 21"/>
            <p:cNvSpPr/>
            <p:nvPr/>
          </p:nvSpPr>
          <p:spPr>
            <a:xfrm>
              <a:off x="8305800" y="2533650"/>
              <a:ext cx="3200400" cy="2381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5C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73440" y="2491740"/>
              <a:ext cx="86121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8B1E3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11540" y="33680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交付慢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17255" y="3854768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反复改稿消耗沟通，拖慢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关键业务窗口。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2940" y="5562600"/>
            <a:ext cx="10843260" cy="609600"/>
            <a:chOff x="662940" y="5562600"/>
            <a:chExt cx="10843260" cy="609600"/>
          </a:xfrm>
        </p:grpSpPr>
        <p:sp>
          <p:nvSpPr>
            <p:cNvPr id="26" name="Line 26"/>
            <p:cNvSpPr/>
            <p:nvPr/>
          </p:nvSpPr>
          <p:spPr>
            <a:xfrm>
              <a:off x="685800" y="5562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F293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2940" y="5806440"/>
              <a:ext cx="50863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真正的问题，是内容没有被转译成决策语言。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0" grpId="0"/>
      <p:bldP spid="25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7F3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685800" y="914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8D5C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3418" y="580549"/>
            <a:ext cx="10518719" cy="198120"/>
            <a:chOff x="673418" y="580549"/>
            <a:chExt cx="10518719" cy="198120"/>
          </a:xfrm>
        </p:grpSpPr>
        <p:sp>
          <p:nvSpPr>
            <p:cNvPr id="5" name="TextBox 5"/>
            <p:cNvSpPr txBox="1"/>
            <p:nvPr/>
          </p:nvSpPr>
          <p:spPr>
            <a:xfrm>
              <a:off x="673418" y="580549"/>
              <a:ext cx="5058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METHOD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31818" y="5805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03 / 06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3415" y="1191578"/>
            <a:ext cx="4190048" cy="822960"/>
            <a:chOff x="653415" y="1191578"/>
            <a:chExt cx="4190048" cy="822960"/>
          </a:xfrm>
        </p:grpSpPr>
        <p:sp>
          <p:nvSpPr>
            <p:cNvPr id="8" name="TextBox 8"/>
            <p:cNvSpPr txBox="1"/>
            <p:nvPr/>
          </p:nvSpPr>
          <p:spPr>
            <a:xfrm>
              <a:off x="653415" y="11915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我们先搭论证，再做页面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8655" y="1740218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每一页都回答一个问题：这张页面要让谁相信什么？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3333750"/>
            <a:ext cx="10096500" cy="609600"/>
            <a:chOff x="1047750" y="3333750"/>
            <a:chExt cx="10096500" cy="609600"/>
          </a:xfrm>
        </p:grpSpPr>
        <p:sp>
          <p:nvSpPr>
            <p:cNvPr id="11" name="Line 11"/>
            <p:cNvSpPr/>
            <p:nvPr/>
          </p:nvSpPr>
          <p:spPr>
            <a:xfrm>
              <a:off x="1352550" y="3638550"/>
              <a:ext cx="9486900" cy="9525"/>
            </a:xfrm>
            <a:custGeom>
              <a:avLst/>
              <a:gdLst/>
              <a:ahLst/>
              <a:cxnLst/>
              <a:rect l="l" t="t" r="r" b="b"/>
              <a:pathLst>
                <a:path w="9486900" h="9525">
                  <a:moveTo>
                    <a:pt x="0" y="0"/>
                  </a:moveTo>
                  <a:lnTo>
                    <a:pt x="9486900" y="0"/>
                  </a:lnTo>
                </a:path>
              </a:pathLst>
            </a:custGeom>
            <a:noFill/>
            <a:ln w="19050">
              <a:solidFill>
                <a:srgbClr val="D8D5CE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47750" y="3333750"/>
              <a:ext cx="609600" cy="609600"/>
            </a:xfrm>
            <a:prstGeom prst="ellipse">
              <a:avLst/>
            </a:prstGeom>
            <a:solidFill>
              <a:srgbClr val="1F293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210050" y="3333750"/>
              <a:ext cx="609600" cy="609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293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372350" y="3333750"/>
              <a:ext cx="609600" cy="609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293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534650" y="3333750"/>
              <a:ext cx="609600" cy="609600"/>
            </a:xfrm>
            <a:prstGeom prst="ellipse">
              <a:avLst/>
            </a:prstGeom>
            <a:solidFill>
              <a:srgbClr val="D85C3A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91540" y="3520440"/>
            <a:ext cx="1411605" cy="1713548"/>
            <a:chOff x="891540" y="3520440"/>
            <a:chExt cx="1411605" cy="1713548"/>
          </a:xfrm>
        </p:grpSpPr>
        <p:sp>
          <p:nvSpPr>
            <p:cNvPr id="17" name="TextBox 17"/>
            <p:cNvSpPr txBox="1"/>
            <p:nvPr/>
          </p:nvSpPr>
          <p:spPr>
            <a:xfrm>
              <a:off x="1158240" y="35204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1540" y="42252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定位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7255" y="4692968"/>
              <a:ext cx="14058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受众、场景、目标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先被写清楚。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53840" y="3520440"/>
            <a:ext cx="1411605" cy="1713548"/>
            <a:chOff x="4053840" y="3520440"/>
            <a:chExt cx="1411605" cy="1713548"/>
          </a:xfrm>
        </p:grpSpPr>
        <p:sp>
          <p:nvSpPr>
            <p:cNvPr id="21" name="TextBox 21"/>
            <p:cNvSpPr txBox="1"/>
            <p:nvPr/>
          </p:nvSpPr>
          <p:spPr>
            <a:xfrm>
              <a:off x="4415790" y="35204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53840" y="42252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重组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59555" y="4692968"/>
              <a:ext cx="14058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把材料变成结论、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证据和顺序。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16140" y="3520440"/>
            <a:ext cx="1583055" cy="1713548"/>
            <a:chOff x="7216140" y="3520440"/>
            <a:chExt cx="1583055" cy="1713548"/>
          </a:xfrm>
        </p:grpSpPr>
        <p:sp>
          <p:nvSpPr>
            <p:cNvPr id="25" name="TextBox 25"/>
            <p:cNvSpPr txBox="1"/>
            <p:nvPr/>
          </p:nvSpPr>
          <p:spPr>
            <a:xfrm>
              <a:off x="7578090" y="35204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16140" y="42252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视觉化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21855" y="4692968"/>
              <a:ext cx="15773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用版式、图表、节奏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降低理解成本。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93605" y="3520440"/>
            <a:ext cx="1748790" cy="1713548"/>
            <a:chOff x="9793605" y="3520440"/>
            <a:chExt cx="1748790" cy="1713548"/>
          </a:xfrm>
        </p:grpSpPr>
        <p:sp>
          <p:nvSpPr>
            <p:cNvPr id="29" name="TextBox 29"/>
            <p:cNvSpPr txBox="1"/>
            <p:nvPr/>
          </p:nvSpPr>
          <p:spPr>
            <a:xfrm>
              <a:off x="10740390" y="35204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78440" y="42252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93605" y="4692968"/>
              <a:ext cx="17487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输出可演讲、可编辑、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可复用的 PPTX。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0" grpId="0"/>
      <p:bldP spid="24" grpId="0"/>
      <p:bldP spid="28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7F3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685800" y="914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8D5C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3418" y="580549"/>
            <a:ext cx="10518719" cy="198120"/>
            <a:chOff x="673418" y="580549"/>
            <a:chExt cx="10518719" cy="198120"/>
          </a:xfrm>
        </p:grpSpPr>
        <p:sp>
          <p:nvSpPr>
            <p:cNvPr id="5" name="TextBox 5"/>
            <p:cNvSpPr txBox="1"/>
            <p:nvPr/>
          </p:nvSpPr>
          <p:spPr>
            <a:xfrm>
              <a:off x="673418" y="5805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CAPABILITY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31818" y="5805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04 / 06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3415" y="1191578"/>
            <a:ext cx="4706350" cy="518160"/>
            <a:chOff x="653415" y="1191578"/>
            <a:chExt cx="4706350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653415" y="119157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一套团队，覆盖从策略到成稿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2209800"/>
            <a:ext cx="10820400" cy="3429000"/>
            <a:chOff x="685800" y="2209800"/>
            <a:chExt cx="10820400" cy="3429000"/>
          </a:xfrm>
        </p:grpSpPr>
        <p:sp>
          <p:nvSpPr>
            <p:cNvPr id="10" name="Rectangle 10"/>
            <p:cNvSpPr/>
            <p:nvPr/>
          </p:nvSpPr>
          <p:spPr>
            <a:xfrm>
              <a:off x="685800" y="2209800"/>
              <a:ext cx="10820400" cy="3429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5CE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390900" y="22098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8D5CE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22098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8D5CE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801100" y="22098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8D5CE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2209800"/>
            <a:ext cx="2705100" cy="1557338"/>
            <a:chOff x="685800" y="2209800"/>
            <a:chExt cx="2705100" cy="1557338"/>
          </a:xfrm>
        </p:grpSpPr>
        <p:sp>
          <p:nvSpPr>
            <p:cNvPr id="15" name="Rectangle 15"/>
            <p:cNvSpPr/>
            <p:nvPr/>
          </p:nvSpPr>
          <p:spPr>
            <a:xfrm>
              <a:off x="685800" y="2209800"/>
              <a:ext cx="2705100" cy="76200"/>
            </a:xfrm>
            <a:prstGeom prst="rect">
              <a:avLst/>
            </a:prstGeom>
            <a:solidFill>
              <a:srgbClr val="D85C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9640" y="27012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策略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355" y="3207068"/>
              <a:ext cx="14058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拆目标、定受众、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搭叙事骨架。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90900" y="2209800"/>
            <a:ext cx="2705100" cy="1557338"/>
            <a:chOff x="3390900" y="2209800"/>
            <a:chExt cx="2705100" cy="1557338"/>
          </a:xfrm>
        </p:grpSpPr>
        <p:sp>
          <p:nvSpPr>
            <p:cNvPr id="19" name="Rectangle 19"/>
            <p:cNvSpPr/>
            <p:nvPr/>
          </p:nvSpPr>
          <p:spPr>
            <a:xfrm>
              <a:off x="3390900" y="2209800"/>
              <a:ext cx="2705100" cy="76200"/>
            </a:xfrm>
            <a:prstGeom prst="rect">
              <a:avLst/>
            </a:prstGeom>
            <a:solidFill>
              <a:srgbClr val="1F293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34740" y="27012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版式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40455" y="3207068"/>
              <a:ext cx="14058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用网格、层级、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留白管理注意力。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0" y="2209800"/>
            <a:ext cx="2705100" cy="1557338"/>
            <a:chOff x="6096000" y="2209800"/>
            <a:chExt cx="2705100" cy="1557338"/>
          </a:xfrm>
        </p:grpSpPr>
        <p:sp>
          <p:nvSpPr>
            <p:cNvPr id="23" name="Rectangle 23"/>
            <p:cNvSpPr/>
            <p:nvPr/>
          </p:nvSpPr>
          <p:spPr>
            <a:xfrm>
              <a:off x="6096000" y="2209800"/>
              <a:ext cx="2705100" cy="76200"/>
            </a:xfrm>
            <a:prstGeom prst="rect">
              <a:avLst/>
            </a:prstGeom>
            <a:solidFill>
              <a:srgbClr val="8B1E3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9840" y="27012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数据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45555" y="3207068"/>
              <a:ext cx="14058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把表格转成观点，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让数字服务判断。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01100" y="2209800"/>
            <a:ext cx="2705100" cy="1557338"/>
            <a:chOff x="8801100" y="2209800"/>
            <a:chExt cx="2705100" cy="1557338"/>
          </a:xfrm>
        </p:grpSpPr>
        <p:sp>
          <p:nvSpPr>
            <p:cNvPr id="27" name="Rectangle 27"/>
            <p:cNvSpPr/>
            <p:nvPr/>
          </p:nvSpPr>
          <p:spPr>
            <a:xfrm>
              <a:off x="8801100" y="2209800"/>
              <a:ext cx="2705100" cy="762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44940" y="27012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50655" y="3207068"/>
              <a:ext cx="14058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输出原生 PPTX，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便于演示和修改。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2940" y="6015990"/>
            <a:ext cx="7102602" cy="365760"/>
            <a:chOff x="662940" y="6015990"/>
            <a:chExt cx="7102602" cy="365760"/>
          </a:xfrm>
        </p:grpSpPr>
        <p:sp>
          <p:nvSpPr>
            <p:cNvPr id="31" name="TextBox 31"/>
            <p:cNvSpPr txBox="1"/>
            <p:nvPr/>
          </p:nvSpPr>
          <p:spPr>
            <a:xfrm>
              <a:off x="662940" y="6015990"/>
              <a:ext cx="710260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客户需要的不是一张漂亮图，而是一套能推进业务的表达系统。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8" grpId="0"/>
      <p:bldP spid="22" grpId="0"/>
      <p:bldP spid="26" grpId="0"/>
      <p:bldP spid="30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7F3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685800" y="914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8D5C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3418" y="580549"/>
            <a:ext cx="10518719" cy="198120"/>
            <a:chOff x="673418" y="580549"/>
            <a:chExt cx="10518719" cy="198120"/>
          </a:xfrm>
        </p:grpSpPr>
        <p:sp>
          <p:nvSpPr>
            <p:cNvPr id="5" name="TextBox 5"/>
            <p:cNvSpPr txBox="1"/>
            <p:nvPr/>
          </p:nvSpPr>
          <p:spPr>
            <a:xfrm>
              <a:off x="673418" y="580549"/>
              <a:ext cx="986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BEFORE / AFTER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31818" y="5805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05 / 06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3415" y="1191578"/>
            <a:ext cx="5777484" cy="518160"/>
            <a:chOff x="653415" y="1191578"/>
            <a:chExt cx="5777484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653415" y="119157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同样内容，专业页让价值更快被看见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8655" y="2102168"/>
            <a:ext cx="4112895" cy="3574732"/>
            <a:chOff x="668655" y="2102168"/>
            <a:chExt cx="4112895" cy="3574732"/>
          </a:xfrm>
        </p:grpSpPr>
        <p:sp>
          <p:nvSpPr>
            <p:cNvPr id="10" name="TextBox 10"/>
            <p:cNvSpPr txBox="1"/>
            <p:nvPr/>
          </p:nvSpPr>
          <p:spPr>
            <a:xfrm>
              <a:off x="668655" y="2102168"/>
              <a:ext cx="6958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3261E"/>
                  </a:solidFill>
                  <a:latin typeface="Arial"/>
                  <a:ea typeface="Microsoft YaHei"/>
                  <a:cs typeface="Arial"/>
                </a:rPr>
                <a:t>BEFORE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2533650"/>
              <a:ext cx="4095750" cy="3143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5C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3455" y="2883218"/>
              <a:ext cx="2606040" cy="11315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我们公司有很多服务能力，包括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内容梳理、页面设计、图表制作、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动画处理、模板统一、汇报优化，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也可以根据不同客户需求调整。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90600" y="4495800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76200">
              <a:solidFill>
                <a:srgbClr val="E9E6DE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90600" y="476250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76200">
              <a:solidFill>
                <a:srgbClr val="E9E6DE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" y="50292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76200">
              <a:solidFill>
                <a:srgbClr val="E9E6DE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200650" y="3549968"/>
            <a:ext cx="1790700" cy="1038701"/>
            <a:chOff x="5200650" y="3549968"/>
            <a:chExt cx="1790700" cy="1038701"/>
          </a:xfrm>
        </p:grpSpPr>
        <p:sp>
          <p:nvSpPr>
            <p:cNvPr id="17" name="Line 17"/>
            <p:cNvSpPr/>
            <p:nvPr/>
          </p:nvSpPr>
          <p:spPr>
            <a:xfrm>
              <a:off x="5200650" y="409575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1F2933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762750" y="3962400"/>
              <a:ext cx="228600" cy="266700"/>
            </a:xfrm>
            <a:custGeom>
              <a:avLst/>
              <a:gdLst/>
              <a:ahLst/>
              <a:cxnLst/>
              <a:rect l="l" t="t" r="r" b="b"/>
              <a:pathLst>
                <a:path w="228600" h="266700">
                  <a:moveTo>
                    <a:pt x="22860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F293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74005" y="3549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转译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78768" y="43905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从信息堆积到结论表达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393305" y="2102168"/>
            <a:ext cx="4112895" cy="3574732"/>
            <a:chOff x="7393305" y="2102168"/>
            <a:chExt cx="4112895" cy="3574732"/>
          </a:xfrm>
        </p:grpSpPr>
        <p:sp>
          <p:nvSpPr>
            <p:cNvPr id="22" name="TextBox 22"/>
            <p:cNvSpPr txBox="1"/>
            <p:nvPr/>
          </p:nvSpPr>
          <p:spPr>
            <a:xfrm>
              <a:off x="7393305" y="210216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AFTER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410450" y="2533650"/>
              <a:ext cx="4095750" cy="31432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F293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92390" y="29108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一页只讲一个判断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98105" y="3454718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策略、设计、数据、交付</a:t>
              </a:r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组成完整链路。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715250" y="4343400"/>
              <a:ext cx="685800" cy="685800"/>
            </a:xfrm>
            <a:prstGeom prst="rect">
              <a:avLst/>
            </a:prstGeom>
            <a:solidFill>
              <a:srgbClr val="D85C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591550" y="4343400"/>
              <a:ext cx="685800" cy="685800"/>
            </a:xfrm>
            <a:prstGeom prst="rect">
              <a:avLst/>
            </a:prstGeom>
            <a:solidFill>
              <a:srgbClr val="1F2933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467850" y="4343400"/>
              <a:ext cx="685800" cy="685800"/>
            </a:xfrm>
            <a:prstGeom prst="rect">
              <a:avLst/>
            </a:prstGeom>
            <a:solidFill>
              <a:srgbClr val="8B1E3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344150" y="4343400"/>
              <a:ext cx="685800" cy="6858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88605" y="4635818"/>
              <a:ext cx="223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64905" y="4635818"/>
              <a:ext cx="223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41205" y="4635818"/>
              <a:ext cx="223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17505" y="4635818"/>
              <a:ext cx="223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交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21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7F3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85800" y="914400"/>
              <a:ext cx="10820400" cy="5029200"/>
            </a:xfrm>
            <a:prstGeom prst="rect">
              <a:avLst/>
            </a:prstGeom>
            <a:solidFill>
              <a:srgbClr val="1F2933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14400" y="1143000"/>
              <a:ext cx="10363200" cy="4572000"/>
            </a:xfrm>
            <a:prstGeom prst="rect">
              <a:avLst/>
            </a:prstGeom>
            <a:solidFill>
              <a:srgbClr val="F8F7F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386840" y="1844040"/>
            <a:ext cx="5414582" cy="2594610"/>
            <a:chOff x="1386840" y="1844040"/>
            <a:chExt cx="5414582" cy="2594610"/>
          </a:xfrm>
        </p:grpSpPr>
        <p:sp>
          <p:nvSpPr>
            <p:cNvPr id="6" name="TextBox 6"/>
            <p:cNvSpPr txBox="1"/>
            <p:nvPr/>
          </p:nvSpPr>
          <p:spPr>
            <a:xfrm>
              <a:off x="1386840" y="1844040"/>
              <a:ext cx="5242560" cy="17564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4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把下一份 PPT</a:t>
              </a:r>
              <a:r>
                <a:rPr lang="zh-CN" sz="4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交给会讲故事的人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63040" y="4072890"/>
              <a:ext cx="533838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85C3A"/>
                  </a:solidFill>
                  <a:latin typeface="Arial"/>
                  <a:ea typeface="Microsoft YaHei"/>
                  <a:cs typeface="Arial"/>
                </a:rPr>
                <a:t>更清楚的结构，更高级的视觉，更可控的交付。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755" y="4921568"/>
            <a:ext cx="6216491" cy="274320"/>
            <a:chOff x="1468755" y="4921568"/>
            <a:chExt cx="6216491" cy="274320"/>
          </a:xfrm>
        </p:grpSpPr>
        <p:sp>
          <p:nvSpPr>
            <p:cNvPr id="9" name="TextBox 9"/>
            <p:cNvSpPr txBox="1"/>
            <p:nvPr/>
          </p:nvSpPr>
          <p:spPr>
            <a:xfrm>
              <a:off x="1468755" y="4921568"/>
              <a:ext cx="57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发资料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209800" y="50101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rgbClr val="D8D5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259455" y="4921568"/>
              <a:ext cx="57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定结构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000500" y="50101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rgbClr val="D8D5C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050155" y="4921568"/>
              <a:ext cx="57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出样稿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91200" y="50101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rgbClr val="D8D5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40855" y="4921568"/>
              <a:ext cx="844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交付 PPTX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3418" y="6219349"/>
            <a:ext cx="10823519" cy="198120"/>
            <a:chOff x="673418" y="6219349"/>
            <a:chExt cx="10823519" cy="198120"/>
          </a:xfrm>
        </p:grpSpPr>
        <p:sp>
          <p:nvSpPr>
            <p:cNvPr id="17" name="TextBox 17"/>
            <p:cNvSpPr txBox="1"/>
            <p:nvPr/>
          </p:nvSpPr>
          <p:spPr>
            <a:xfrm>
              <a:off x="673418" y="621934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Premium Consulting Sample Deck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36618" y="62193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8A8A"/>
                  </a:solidFill>
                  <a:latin typeface="Arial"/>
                  <a:ea typeface="Microsoft YaHei"/>
                  <a:cs typeface="Arial"/>
                </a:rPr>
                <a:t>06 /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2026-06-20T10:08:00Z</dcterms:created>
  <dcterms:modified xsi:type="dcterms:W3CDTF">2026-06-20T10:08:00Z</dcterms:modified>
  <cp:category/>
  <cp:contentStatus/>
</cp:coreProperties>
</file>